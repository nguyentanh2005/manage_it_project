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66" r:id="rId2"/>
    <p:sldId id="267" r:id="rId3"/>
    <p:sldId id="256" r:id="rId4"/>
    <p:sldId id="257" r:id="rId5"/>
    <p:sldId id="258" r:id="rId6"/>
    <p:sldId id="269" r:id="rId7"/>
    <p:sldId id="268" r:id="rId8"/>
    <p:sldId id="270" r:id="rId9"/>
    <p:sldId id="271" r:id="rId10"/>
    <p:sldId id="272" r:id="rId11"/>
    <p:sldId id="273" r:id="rId12"/>
    <p:sldId id="274" r:id="rId13"/>
    <p:sldId id="275" r:id="rId14"/>
    <p:sldId id="276" r:id="rId15"/>
    <p:sldId id="260" r:id="rId16"/>
  </p:sldIdLst>
  <p:sldSz cx="14630400" cy="8229600"/>
  <p:notesSz cx="8229600" cy="14630400"/>
  <p:embeddedFontLst>
    <p:embeddedFont>
      <p:font typeface="Inter" panose="020B0604020202020204" charset="0"/>
      <p:regular r:id="rId18"/>
    </p:embeddedFont>
    <p:embeddedFont>
      <p:font typeface="Inter Semi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781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FDF28-E875-CDCB-C953-2C57A8A16C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7BAA7-2A47-5C70-446B-46751B044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BBBCC-3867-FFB8-020A-4C50DA6F59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3779EC-0475-853C-F0C8-6823D543B84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18937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685F5-5033-C136-083B-645D3DAD8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4D875-EAEC-9F11-CB0F-6D55519D5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DF2E37-8B93-4759-0FF3-E4A172C8F7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B3A9F8-3AFC-C495-F3AC-01BD33A6228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53058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E7A3-61FF-1AFA-9454-D4A2BC618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F4770-3F95-F9BA-84FC-4FCCF72D5D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2224E-23C5-E87B-ABCE-E8B251071B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AB4A63-B367-E920-690C-81A167AE44A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4223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BE22B-5F6E-8DEE-22AF-B4C6F935E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4255B-CA6D-95EC-2C9F-A4E36B1D0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127A9-544B-E88D-055B-0712DAB1CC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5C6DB4-AE8D-D4ED-C8A5-6DCC7B85B7C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32824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76B5-54EE-B810-5C30-97FAF6751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5E7DC-2A87-4224-DC85-A5E28D3113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A6960-A0B6-94F5-6CFD-FD6FBABF76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59D2B6-459E-7D6C-F7EC-BA84697911C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707367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219A7-F77B-664A-D2AC-BC8FFA646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AFA55-7D14-9DAA-1F72-6ABED1C5CB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7767D-CFBF-E1C0-6248-2CA98E673F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370317-E017-F22E-D774-22D25094169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74319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567D2-667A-6706-D34F-E79146ACB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77EDB-F2C4-4710-F65C-6EF6773AD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CB337-D6DB-F4D3-D2B9-D429AEEACB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4E68D2-A49D-379A-CC8C-8FA204F2AA7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91094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24B53-A36C-3666-D8AA-6ADBFDFEA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04DB8-CA59-88C0-5BF8-02681EDAC4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3F625-E5E9-3FBB-AD1A-A4C9C37AD1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9A1DAA-3865-D7A2-411D-ABF6F802BE2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23140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600D6-D76F-819A-C20C-DF697DF25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9F361-66BA-F6BA-FA66-3843E8C2D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BA93F-4A70-4DD7-5CA7-5FC4247596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5292E6-016E-F8C3-BCBD-90FA16755E3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48046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54720" y="1372675"/>
            <a:ext cx="7556421" cy="2126337"/>
          </a:xfrm>
          <a:prstGeom prst="rect">
            <a:avLst/>
          </a:prstGeom>
          <a:noFill/>
          <a:ln/>
        </p:spPr>
        <p:txBody>
          <a:bodyPr wrap="square" lIns="0" tIns="0" rIns="0" bIns="0" rtlCol="0" anchor="t"/>
          <a:lstStyle/>
          <a:p>
            <a:pPr marL="0" indent="0" algn="r">
              <a:lnSpc>
                <a:spcPts val="5550"/>
              </a:lnSpc>
              <a:buNone/>
            </a:pPr>
            <a:r>
              <a:rPr lang="en-US" sz="4450" b="1" dirty="0">
                <a:solidFill>
                  <a:srgbClr val="030303"/>
                </a:solidFill>
                <a:latin typeface="Arimo Semi Bold" pitchFamily="34" charset="0"/>
                <a:ea typeface="Arimo Semi Bold" pitchFamily="34" charset="-122"/>
                <a:cs typeface="Arimo Semi Bold" pitchFamily="34" charset="-120"/>
              </a:rPr>
              <a:t>Báo </a:t>
            </a:r>
            <a:r>
              <a:rPr lang="en-US" sz="4450" b="1">
                <a:solidFill>
                  <a:srgbClr val="030303"/>
                </a:solidFill>
                <a:latin typeface="Arimo Semi Bold" pitchFamily="34" charset="0"/>
                <a:ea typeface="Arimo Semi Bold" pitchFamily="34" charset="-122"/>
                <a:cs typeface="Arimo Semi Bold" pitchFamily="34" charset="-120"/>
              </a:rPr>
              <a:t>cáo dự án: </a:t>
            </a:r>
          </a:p>
          <a:p>
            <a:pPr marL="0" indent="0" algn="r">
              <a:lnSpc>
                <a:spcPts val="5550"/>
              </a:lnSpc>
              <a:buNone/>
            </a:pPr>
            <a:r>
              <a:rPr lang="en-US" sz="4450">
                <a:solidFill>
                  <a:srgbClr val="030303"/>
                </a:solidFill>
                <a:latin typeface="Arimo Semi Bold" pitchFamily="34" charset="0"/>
                <a:ea typeface="Arimo Semi Bold" pitchFamily="34" charset="-122"/>
                <a:cs typeface="Arimo Semi Bold" pitchFamily="34" charset="-120"/>
              </a:rPr>
              <a:t>Website quản lý dự án CNTT</a:t>
            </a:r>
            <a:endParaRPr lang="en-US" sz="4450" dirty="0"/>
          </a:p>
        </p:txBody>
      </p:sp>
      <p:sp>
        <p:nvSpPr>
          <p:cNvPr id="4" name="Text 1"/>
          <p:cNvSpPr/>
          <p:nvPr/>
        </p:nvSpPr>
        <p:spPr>
          <a:xfrm>
            <a:off x="366233" y="4223841"/>
            <a:ext cx="7556421" cy="3448198"/>
          </a:xfrm>
          <a:prstGeom prst="rect">
            <a:avLst/>
          </a:prstGeom>
          <a:noFill/>
          <a:ln/>
        </p:spPr>
        <p:txBody>
          <a:bodyPr wrap="square" lIns="0" tIns="0" rIns="0" bIns="0" rtlCol="0" anchor="t"/>
          <a:lstStyle/>
          <a:p>
            <a:pPr marL="0" indent="0" algn="l">
              <a:lnSpc>
                <a:spcPct val="150000"/>
              </a:lnSpc>
              <a:buNone/>
            </a:pPr>
            <a:r>
              <a:rPr lang="en-US" sz="2400" dirty="0">
                <a:solidFill>
                  <a:srgbClr val="464646"/>
                </a:solidFill>
                <a:latin typeface="Arimo Medium" pitchFamily="34" charset="0"/>
                <a:ea typeface="Arimo Medium" pitchFamily="34" charset="-122"/>
                <a:cs typeface="Arimo Medium" pitchFamily="34" charset="-120"/>
              </a:rPr>
              <a:t>Môn học</a:t>
            </a:r>
            <a:r>
              <a:rPr lang="en-US" sz="2400">
                <a:solidFill>
                  <a:srgbClr val="464646"/>
                </a:solidFill>
                <a:latin typeface="Arimo Medium" pitchFamily="34" charset="0"/>
                <a:ea typeface="Arimo Medium" pitchFamily="34" charset="-122"/>
                <a:cs typeface="Arimo Medium" pitchFamily="34" charset="-120"/>
              </a:rPr>
              <a:t>: Quản trị dự án CNTT</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Sinh </a:t>
            </a:r>
            <a:r>
              <a:rPr lang="en-US" sz="2400" dirty="0">
                <a:solidFill>
                  <a:srgbClr val="464646"/>
                </a:solidFill>
                <a:latin typeface="Arimo Medium" pitchFamily="34" charset="0"/>
                <a:ea typeface="Arimo Medium" pitchFamily="34" charset="-122"/>
                <a:cs typeface="Arimo Medium" pitchFamily="34" charset="-120"/>
              </a:rPr>
              <a:t>viên</a:t>
            </a:r>
            <a:r>
              <a:rPr lang="en-US" sz="2400">
                <a:solidFill>
                  <a:srgbClr val="464646"/>
                </a:solidFill>
                <a:latin typeface="Arimo Medium" pitchFamily="34" charset="0"/>
                <a:ea typeface="Arimo Medium" pitchFamily="34" charset="-122"/>
                <a:cs typeface="Arimo Medium" pitchFamily="34" charset="-120"/>
              </a:rPr>
              <a:t>: </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	Lý Lâm Vũ (23050102)</a:t>
            </a: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	Nguyễn Tuấn Anh (23050118)</a:t>
            </a:r>
          </a:p>
          <a:p>
            <a:pPr marL="0" indent="0" algn="l">
              <a:lnSpc>
                <a:spcPct val="150000"/>
              </a:lnSpc>
              <a:buNone/>
            </a:pPr>
            <a:endParaRPr lang="en-US" sz="2400">
              <a:solidFill>
                <a:srgbClr val="464646"/>
              </a:solidFill>
              <a:latin typeface="Arimo Medium" pitchFamily="34" charset="0"/>
              <a:ea typeface="Arimo Medium" pitchFamily="34" charset="-122"/>
              <a:cs typeface="Arimo Medium" pitchFamily="34" charset="-120"/>
            </a:endParaRPr>
          </a:p>
          <a:p>
            <a:pPr marL="0" indent="0" algn="l">
              <a:lnSpc>
                <a:spcPct val="150000"/>
              </a:lnSpc>
              <a:buNone/>
            </a:pPr>
            <a:r>
              <a:rPr lang="en-US" sz="2400">
                <a:solidFill>
                  <a:srgbClr val="464646"/>
                </a:solidFill>
                <a:latin typeface="Arimo Medium" pitchFamily="34" charset="0"/>
                <a:ea typeface="Arimo Medium" pitchFamily="34" charset="-122"/>
                <a:cs typeface="Arimo Medium" pitchFamily="34" charset="-120"/>
              </a:rPr>
              <a:t>GVHD: </a:t>
            </a:r>
            <a:r>
              <a:rPr lang="en-US" sz="2400" dirty="0">
                <a:solidFill>
                  <a:srgbClr val="464646"/>
                </a:solidFill>
                <a:latin typeface="Arimo Medium" pitchFamily="34" charset="0"/>
                <a:ea typeface="Arimo Medium" pitchFamily="34" charset="-122"/>
                <a:cs typeface="Arimo Medium" pitchFamily="34" charset="-120"/>
              </a:rPr>
              <a:t>ThS</a:t>
            </a:r>
            <a:r>
              <a:rPr lang="en-US" sz="2400">
                <a:solidFill>
                  <a:srgbClr val="464646"/>
                </a:solidFill>
                <a:latin typeface="Arimo Medium" pitchFamily="34" charset="0"/>
                <a:ea typeface="Arimo Medium" pitchFamily="34" charset="-122"/>
                <a:cs typeface="Arimo Medium" pitchFamily="34" charset="-120"/>
              </a:rPr>
              <a:t>. Huỳnh Quang Đức</a:t>
            </a:r>
            <a:endParaRPr lang="en-US" sz="2400" dirty="0"/>
          </a:p>
        </p:txBody>
      </p:sp>
      <p:pic>
        <p:nvPicPr>
          <p:cNvPr id="5" name="Picture 4">
            <a:extLst>
              <a:ext uri="{FF2B5EF4-FFF2-40B4-BE49-F238E27FC236}">
                <a16:creationId xmlns:a16="http://schemas.microsoft.com/office/drawing/2014/main" id="{9B145724-077A-D8C6-289C-845E801A02B6}"/>
              </a:ext>
            </a:extLst>
          </p:cNvPr>
          <p:cNvPicPr>
            <a:picLocks noChangeAspect="1"/>
          </p:cNvPicPr>
          <p:nvPr/>
        </p:nvPicPr>
        <p:blipFill>
          <a:blip r:embed="rId3"/>
          <a:stretch>
            <a:fillRect/>
          </a:stretch>
        </p:blipFill>
        <p:spPr>
          <a:xfrm>
            <a:off x="0" y="0"/>
            <a:ext cx="3629608" cy="1119571"/>
          </a:xfrm>
          <a:prstGeom prst="rect">
            <a:avLst/>
          </a:prstGeom>
        </p:spPr>
      </p:pic>
      <p:pic>
        <p:nvPicPr>
          <p:cNvPr id="2" name="Picture 1">
            <a:extLst>
              <a:ext uri="{FF2B5EF4-FFF2-40B4-BE49-F238E27FC236}">
                <a16:creationId xmlns:a16="http://schemas.microsoft.com/office/drawing/2014/main" id="{AE0F56CA-5DE3-E261-7B71-518C15382298}"/>
              </a:ext>
            </a:extLst>
          </p:cNvPr>
          <p:cNvPicPr>
            <a:picLocks noChangeAspect="1"/>
          </p:cNvPicPr>
          <p:nvPr/>
        </p:nvPicPr>
        <p:blipFill>
          <a:blip r:embed="rId4"/>
          <a:stretch>
            <a:fillRect/>
          </a:stretch>
        </p:blipFill>
        <p:spPr>
          <a:xfrm>
            <a:off x="12812961" y="7617505"/>
            <a:ext cx="1817439" cy="703535"/>
          </a:xfrm>
          <a:prstGeom prst="rect">
            <a:avLst/>
          </a:prstGeom>
        </p:spPr>
      </p:pic>
      <p:pic>
        <p:nvPicPr>
          <p:cNvPr id="7" name="Picture 6">
            <a:extLst>
              <a:ext uri="{FF2B5EF4-FFF2-40B4-BE49-F238E27FC236}">
                <a16:creationId xmlns:a16="http://schemas.microsoft.com/office/drawing/2014/main" id="{6EA205BA-EBF7-4511-3E4C-6CE770C23670}"/>
              </a:ext>
            </a:extLst>
          </p:cNvPr>
          <p:cNvPicPr>
            <a:picLocks noChangeAspect="1"/>
          </p:cNvPicPr>
          <p:nvPr/>
        </p:nvPicPr>
        <p:blipFill>
          <a:blip r:embed="rId5"/>
          <a:stretch>
            <a:fillRect/>
          </a:stretch>
        </p:blipFill>
        <p:spPr>
          <a:xfrm>
            <a:off x="11000792" y="10903"/>
            <a:ext cx="3629608" cy="84258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32" y="419933"/>
            <a:ext cx="13638133" cy="443032"/>
          </a:xfrm>
          <a:prstGeom prst="rect">
            <a:avLst/>
          </a:prstGeom>
          <a:noFill/>
          <a:ln/>
        </p:spPr>
        <p:txBody>
          <a:bodyPr wrap="none" lIns="0" tIns="0" rIns="0" bIns="0" rtlCol="0" anchor="t"/>
          <a:lstStyle/>
          <a:p>
            <a:pPr marL="0" indent="0" algn="ctr">
              <a:lnSpc>
                <a:spcPts val="3450"/>
              </a:lnSpc>
              <a:buNone/>
            </a:pPr>
            <a:r>
              <a:rPr lang="en-US" sz="3200" b="1">
                <a:solidFill>
                  <a:srgbClr val="030303"/>
                </a:solidFill>
                <a:latin typeface="Arimo Semi Bold" pitchFamily="34" charset="0"/>
                <a:ea typeface="Arimo Semi Bold" pitchFamily="34" charset="-122"/>
                <a:cs typeface="Arimo Semi Bold" pitchFamily="34" charset="-120"/>
              </a:rPr>
              <a:t>Nội dung báo cáo: </a:t>
            </a:r>
            <a:endParaRPr lang="en-US" sz="3200" b="1" dirty="0"/>
          </a:p>
        </p:txBody>
      </p:sp>
      <p:sp>
        <p:nvSpPr>
          <p:cNvPr id="4" name="Shape 2"/>
          <p:cNvSpPr/>
          <p:nvPr/>
        </p:nvSpPr>
        <p:spPr>
          <a:xfrm>
            <a:off x="636809" y="961223"/>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5" name="Shape 3"/>
          <p:cNvSpPr/>
          <p:nvPr/>
        </p:nvSpPr>
        <p:spPr>
          <a:xfrm>
            <a:off x="652049" y="988793"/>
            <a:ext cx="566976" cy="1151887"/>
          </a:xfrm>
          <a:prstGeom prst="roundRect">
            <a:avLst>
              <a:gd name="adj" fmla="val 7276"/>
            </a:avLst>
          </a:prstGeom>
          <a:solidFill>
            <a:srgbClr val="F2EEEE"/>
          </a:solidFill>
          <a:ln/>
        </p:spPr>
        <p:txBody>
          <a:bodyPr/>
          <a:lstStyle/>
          <a:p>
            <a:endParaRPr lang="en-US"/>
          </a:p>
        </p:txBody>
      </p:sp>
      <p:sp>
        <p:nvSpPr>
          <p:cNvPr id="6" name="Text 4"/>
          <p:cNvSpPr/>
          <p:nvPr/>
        </p:nvSpPr>
        <p:spPr>
          <a:xfrm>
            <a:off x="829214" y="1521555"/>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1</a:t>
            </a:r>
            <a:endParaRPr lang="en-US" sz="2400" b="1" dirty="0"/>
          </a:p>
        </p:txBody>
      </p:sp>
      <p:sp>
        <p:nvSpPr>
          <p:cNvPr id="7" name="Text 5"/>
          <p:cNvSpPr/>
          <p:nvPr/>
        </p:nvSpPr>
        <p:spPr>
          <a:xfrm>
            <a:off x="1307608" y="1323597"/>
            <a:ext cx="3062168" cy="184309"/>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Giới thiệu dự án</a:t>
            </a:r>
            <a:endParaRPr lang="en-US" sz="2800" b="1" dirty="0"/>
          </a:p>
        </p:txBody>
      </p:sp>
      <p:sp>
        <p:nvSpPr>
          <p:cNvPr id="8" name="Text 6"/>
          <p:cNvSpPr/>
          <p:nvPr/>
        </p:nvSpPr>
        <p:spPr>
          <a:xfrm>
            <a:off x="1307608" y="1840991"/>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Mục đích, các mục tiêu của dự án</a:t>
            </a:r>
            <a:endParaRPr lang="en-US" sz="2400" dirty="0"/>
          </a:p>
        </p:txBody>
      </p:sp>
      <p:sp>
        <p:nvSpPr>
          <p:cNvPr id="9" name="Shape 7"/>
          <p:cNvSpPr/>
          <p:nvPr/>
        </p:nvSpPr>
        <p:spPr>
          <a:xfrm>
            <a:off x="636807" y="2725716"/>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10" name="Shape 8"/>
          <p:cNvSpPr/>
          <p:nvPr/>
        </p:nvSpPr>
        <p:spPr>
          <a:xfrm>
            <a:off x="652047" y="2753286"/>
            <a:ext cx="566976" cy="1151887"/>
          </a:xfrm>
          <a:prstGeom prst="roundRect">
            <a:avLst>
              <a:gd name="adj" fmla="val 7276"/>
            </a:avLst>
          </a:prstGeom>
          <a:solidFill>
            <a:srgbClr val="F2EEEE"/>
          </a:solidFill>
          <a:ln/>
        </p:spPr>
        <p:txBody>
          <a:bodyPr/>
          <a:lstStyle/>
          <a:p>
            <a:endParaRPr lang="en-US"/>
          </a:p>
        </p:txBody>
      </p:sp>
      <p:sp>
        <p:nvSpPr>
          <p:cNvPr id="11" name="Text 9"/>
          <p:cNvSpPr/>
          <p:nvPr/>
        </p:nvSpPr>
        <p:spPr>
          <a:xfrm>
            <a:off x="829212" y="3286048"/>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2</a:t>
            </a:r>
            <a:endParaRPr lang="en-US" sz="2400" b="1" dirty="0"/>
          </a:p>
        </p:txBody>
      </p:sp>
      <p:sp>
        <p:nvSpPr>
          <p:cNvPr id="12" name="Text 10"/>
          <p:cNvSpPr/>
          <p:nvPr/>
        </p:nvSpPr>
        <p:spPr>
          <a:xfrm>
            <a:off x="1307606" y="3131920"/>
            <a:ext cx="1860232"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Kiến trúc hệ thống</a:t>
            </a:r>
            <a:endParaRPr lang="en-US" sz="2800" b="1" dirty="0"/>
          </a:p>
        </p:txBody>
      </p:sp>
      <p:sp>
        <p:nvSpPr>
          <p:cNvPr id="13" name="Text 11"/>
          <p:cNvSpPr/>
          <p:nvPr/>
        </p:nvSpPr>
        <p:spPr>
          <a:xfrm>
            <a:off x="1307606" y="3605484"/>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Các công nghê sử dụng, kiến trúc các đối tượng trong database</a:t>
            </a:r>
            <a:endParaRPr lang="en-US" sz="2400" dirty="0"/>
          </a:p>
        </p:txBody>
      </p:sp>
      <p:sp>
        <p:nvSpPr>
          <p:cNvPr id="14" name="Shape 12"/>
          <p:cNvSpPr/>
          <p:nvPr/>
        </p:nvSpPr>
        <p:spPr>
          <a:xfrm>
            <a:off x="636806" y="4424631"/>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15" name="Shape 13"/>
          <p:cNvSpPr/>
          <p:nvPr/>
        </p:nvSpPr>
        <p:spPr>
          <a:xfrm>
            <a:off x="652046" y="4452201"/>
            <a:ext cx="566976" cy="1151887"/>
          </a:xfrm>
          <a:prstGeom prst="roundRect">
            <a:avLst>
              <a:gd name="adj" fmla="val 7276"/>
            </a:avLst>
          </a:prstGeom>
          <a:solidFill>
            <a:srgbClr val="F2EEEE"/>
          </a:solidFill>
          <a:ln/>
        </p:spPr>
        <p:txBody>
          <a:bodyPr/>
          <a:lstStyle/>
          <a:p>
            <a:endParaRPr lang="en-US"/>
          </a:p>
        </p:txBody>
      </p:sp>
      <p:sp>
        <p:nvSpPr>
          <p:cNvPr id="16" name="Text 14"/>
          <p:cNvSpPr/>
          <p:nvPr/>
        </p:nvSpPr>
        <p:spPr>
          <a:xfrm>
            <a:off x="829211" y="4984963"/>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3</a:t>
            </a:r>
            <a:endParaRPr lang="en-US" sz="2400" b="1" dirty="0"/>
          </a:p>
        </p:txBody>
      </p:sp>
      <p:sp>
        <p:nvSpPr>
          <p:cNvPr id="17" name="Text 15"/>
          <p:cNvSpPr/>
          <p:nvPr/>
        </p:nvSpPr>
        <p:spPr>
          <a:xfrm>
            <a:off x="1307608" y="4851577"/>
            <a:ext cx="1772007"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Chức năng và giao diện</a:t>
            </a:r>
            <a:endParaRPr lang="en-US" sz="2800" b="1" dirty="0"/>
          </a:p>
        </p:txBody>
      </p:sp>
      <p:sp>
        <p:nvSpPr>
          <p:cNvPr id="18" name="Text 16"/>
          <p:cNvSpPr/>
          <p:nvPr/>
        </p:nvSpPr>
        <p:spPr>
          <a:xfrm>
            <a:off x="1307605" y="5304399"/>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Một số chức năng cốt lõi và giao diện</a:t>
            </a:r>
            <a:endParaRPr lang="en-US" sz="2400" dirty="0"/>
          </a:p>
        </p:txBody>
      </p:sp>
      <p:grpSp>
        <p:nvGrpSpPr>
          <p:cNvPr id="39" name="Group 38">
            <a:extLst>
              <a:ext uri="{FF2B5EF4-FFF2-40B4-BE49-F238E27FC236}">
                <a16:creationId xmlns:a16="http://schemas.microsoft.com/office/drawing/2014/main" id="{6D5A444C-3104-40BF-D807-58F13E0015EC}"/>
              </a:ext>
            </a:extLst>
          </p:cNvPr>
          <p:cNvGrpSpPr/>
          <p:nvPr/>
        </p:nvGrpSpPr>
        <p:grpSpPr>
          <a:xfrm>
            <a:off x="636805" y="6073679"/>
            <a:ext cx="13638133" cy="1194698"/>
            <a:chOff x="526613" y="6164793"/>
            <a:chExt cx="13638133" cy="1194698"/>
          </a:xfrm>
        </p:grpSpPr>
        <p:sp>
          <p:nvSpPr>
            <p:cNvPr id="19" name="Shape 17"/>
            <p:cNvSpPr/>
            <p:nvPr/>
          </p:nvSpPr>
          <p:spPr>
            <a:xfrm>
              <a:off x="526613" y="6164793"/>
              <a:ext cx="13638133" cy="1194698"/>
            </a:xfrm>
            <a:prstGeom prst="roundRect">
              <a:avLst>
                <a:gd name="adj" fmla="val 7000"/>
              </a:avLst>
            </a:prstGeom>
            <a:solidFill>
              <a:srgbClr val="FFFFFF"/>
            </a:solidFill>
            <a:ln w="15240">
              <a:solidFill>
                <a:srgbClr val="D8D4D4"/>
              </a:solidFill>
              <a:prstDash val="solid"/>
            </a:ln>
          </p:spPr>
          <p:txBody>
            <a:bodyPr/>
            <a:lstStyle/>
            <a:p>
              <a:endParaRPr lang="en-US"/>
            </a:p>
          </p:txBody>
        </p:sp>
        <p:sp>
          <p:nvSpPr>
            <p:cNvPr id="20" name="Shape 18"/>
            <p:cNvSpPr/>
            <p:nvPr/>
          </p:nvSpPr>
          <p:spPr>
            <a:xfrm>
              <a:off x="541853" y="6192363"/>
              <a:ext cx="566976" cy="1151887"/>
            </a:xfrm>
            <a:prstGeom prst="roundRect">
              <a:avLst>
                <a:gd name="adj" fmla="val 7276"/>
              </a:avLst>
            </a:prstGeom>
            <a:solidFill>
              <a:srgbClr val="F2EEEE"/>
            </a:solidFill>
            <a:ln/>
          </p:spPr>
          <p:txBody>
            <a:bodyPr/>
            <a:lstStyle/>
            <a:p>
              <a:endParaRPr lang="en-US"/>
            </a:p>
          </p:txBody>
        </p:sp>
        <p:sp>
          <p:nvSpPr>
            <p:cNvPr id="21" name="Text 19"/>
            <p:cNvSpPr/>
            <p:nvPr/>
          </p:nvSpPr>
          <p:spPr>
            <a:xfrm>
              <a:off x="719018" y="6725125"/>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4</a:t>
              </a:r>
              <a:endParaRPr lang="en-US" sz="2400" b="1" dirty="0"/>
            </a:p>
          </p:txBody>
        </p:sp>
        <p:sp>
          <p:nvSpPr>
            <p:cNvPr id="22" name="Text 20"/>
            <p:cNvSpPr/>
            <p:nvPr/>
          </p:nvSpPr>
          <p:spPr>
            <a:xfrm>
              <a:off x="1197412" y="6546637"/>
              <a:ext cx="1887022" cy="221456"/>
            </a:xfrm>
            <a:prstGeom prst="rect">
              <a:avLst/>
            </a:prstGeom>
            <a:noFill/>
            <a:ln/>
          </p:spPr>
          <p:txBody>
            <a:bodyPr wrap="none" lIns="0" tIns="0" rIns="0" bIns="0" rtlCol="0" anchor="t"/>
            <a:lstStyle/>
            <a:p>
              <a:pPr marL="0" indent="0" algn="l">
                <a:lnSpc>
                  <a:spcPts val="1700"/>
                </a:lnSpc>
                <a:buNone/>
              </a:pPr>
              <a:r>
                <a:rPr lang="en-US" sz="2800" b="1">
                  <a:solidFill>
                    <a:srgbClr val="464646"/>
                  </a:solidFill>
                  <a:latin typeface="Arimo Semi Bold" pitchFamily="34" charset="0"/>
                  <a:ea typeface="Arimo Semi Bold" pitchFamily="34" charset="-122"/>
                  <a:cs typeface="Arimo Semi Bold" pitchFamily="34" charset="-120"/>
                </a:rPr>
                <a:t>Công việc được phân công</a:t>
              </a:r>
              <a:endParaRPr lang="en-US" sz="2800" b="1" dirty="0"/>
            </a:p>
          </p:txBody>
        </p:sp>
        <p:sp>
          <p:nvSpPr>
            <p:cNvPr id="23" name="Text 21"/>
            <p:cNvSpPr/>
            <p:nvPr/>
          </p:nvSpPr>
          <p:spPr>
            <a:xfrm>
              <a:off x="1197412" y="7044561"/>
              <a:ext cx="12810411" cy="184309"/>
            </a:xfrm>
            <a:prstGeom prst="rect">
              <a:avLst/>
            </a:prstGeom>
            <a:noFill/>
            <a:ln/>
          </p:spPr>
          <p:txBody>
            <a:bodyPr wrap="none" lIns="0" tIns="0" rIns="0" bIns="0" rtlCol="0" anchor="t"/>
            <a:lstStyle/>
            <a:p>
              <a:pPr marL="0" indent="0" algn="l">
                <a:lnSpc>
                  <a:spcPts val="1450"/>
                </a:lnSpc>
                <a:buNone/>
              </a:pPr>
              <a:r>
                <a:rPr lang="en-US" sz="2400">
                  <a:solidFill>
                    <a:srgbClr val="464646"/>
                  </a:solidFill>
                  <a:latin typeface="Arimo Medium" pitchFamily="34" charset="0"/>
                  <a:ea typeface="Arimo Medium" pitchFamily="34" charset="-122"/>
                  <a:cs typeface="Arimo Medium" pitchFamily="34" charset="-120"/>
                </a:rPr>
                <a:t>Các công việc được giao và cách triển khai</a:t>
              </a:r>
              <a:endParaRPr lang="en-US" sz="2400" dirty="0"/>
            </a:p>
          </p:txBody>
        </p:sp>
      </p:grpSp>
      <p:sp>
        <p:nvSpPr>
          <p:cNvPr id="26" name="Text 24"/>
          <p:cNvSpPr/>
          <p:nvPr/>
        </p:nvSpPr>
        <p:spPr>
          <a:xfrm>
            <a:off x="-14920913" y="4391475"/>
            <a:ext cx="212646" cy="265747"/>
          </a:xfrm>
          <a:prstGeom prst="rect">
            <a:avLst/>
          </a:prstGeom>
          <a:noFill/>
          <a:ln/>
        </p:spPr>
        <p:txBody>
          <a:bodyPr wrap="none" lIns="0" tIns="0" rIns="0" bIns="0" rtlCol="0" anchor="t"/>
          <a:lstStyle/>
          <a:p>
            <a:pPr marL="0" indent="0" algn="l">
              <a:lnSpc>
                <a:spcPts val="1650"/>
              </a:lnSpc>
              <a:buNone/>
            </a:pPr>
            <a:r>
              <a:rPr lang="en-US" sz="2400" b="1" dirty="0">
                <a:solidFill>
                  <a:srgbClr val="464646"/>
                </a:solidFill>
                <a:latin typeface="Arimo Semi Bold" pitchFamily="34" charset="0"/>
                <a:ea typeface="Arimo Semi Bold" pitchFamily="34" charset="-122"/>
                <a:cs typeface="Arimo Semi Bold" pitchFamily="34" charset="-120"/>
              </a:rPr>
              <a:t>5</a:t>
            </a:r>
            <a:endParaRPr lang="en-US" sz="2400" b="1" dirty="0"/>
          </a:p>
        </p:txBody>
      </p:sp>
      <p:pic>
        <p:nvPicPr>
          <p:cNvPr id="24" name="Picture 23">
            <a:extLst>
              <a:ext uri="{FF2B5EF4-FFF2-40B4-BE49-F238E27FC236}">
                <a16:creationId xmlns:a16="http://schemas.microsoft.com/office/drawing/2014/main" id="{327D379D-D481-88AF-C2F6-C204E1E0C72F}"/>
              </a:ext>
            </a:extLst>
          </p:cNvPr>
          <p:cNvPicPr>
            <a:picLocks noChangeAspect="1"/>
          </p:cNvPicPr>
          <p:nvPr/>
        </p:nvPicPr>
        <p:blipFill>
          <a:blip r:embed="rId3"/>
          <a:stretch>
            <a:fillRect/>
          </a:stretch>
        </p:blipFill>
        <p:spPr>
          <a:xfrm>
            <a:off x="12812961" y="7617505"/>
            <a:ext cx="1817439" cy="7035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91986" y="265884"/>
            <a:ext cx="5785430" cy="766680"/>
          </a:xfrm>
          <a:prstGeom prst="rect">
            <a:avLst/>
          </a:prstGeom>
          <a:noFill/>
          <a:ln/>
        </p:spPr>
        <p:txBody>
          <a:bodyPr wrap="square" lIns="0" tIns="0" rIns="0" bIns="0" rtlCol="0" anchor="t"/>
          <a:lstStyle/>
          <a:p>
            <a:pPr marL="0" indent="0" algn="l">
              <a:lnSpc>
                <a:spcPts val="5550"/>
              </a:lnSpc>
              <a:buNone/>
            </a:pPr>
            <a:r>
              <a:rPr lang="en-US" sz="4450">
                <a:solidFill>
                  <a:srgbClr val="030303"/>
                </a:solidFill>
                <a:latin typeface="Inter Semi Bold" pitchFamily="34" charset="0"/>
                <a:ea typeface="Inter Semi Bold" pitchFamily="34" charset="-122"/>
                <a:cs typeface="Inter Semi Bold" pitchFamily="34" charset="-120"/>
              </a:rPr>
              <a:t>1: Giới </a:t>
            </a:r>
            <a:r>
              <a:rPr lang="en-US" sz="4450" dirty="0">
                <a:solidFill>
                  <a:srgbClr val="030303"/>
                </a:solidFill>
                <a:latin typeface="Inter Semi Bold" pitchFamily="34" charset="0"/>
                <a:ea typeface="Inter Semi Bold" pitchFamily="34" charset="-122"/>
                <a:cs typeface="Inter Semi Bold" pitchFamily="34" charset="-120"/>
              </a:rPr>
              <a:t>thiệu </a:t>
            </a:r>
            <a:r>
              <a:rPr lang="en-US" sz="4450">
                <a:solidFill>
                  <a:srgbClr val="030303"/>
                </a:solidFill>
                <a:latin typeface="Inter Semi Bold" pitchFamily="34" charset="0"/>
                <a:ea typeface="Inter Semi Bold" pitchFamily="34" charset="-122"/>
                <a:cs typeface="Inter Semi Bold" pitchFamily="34" charset="-120"/>
              </a:rPr>
              <a:t>dự án</a:t>
            </a:r>
            <a:endParaRPr lang="en-US" sz="4450" dirty="0"/>
          </a:p>
        </p:txBody>
      </p:sp>
      <p:grpSp>
        <p:nvGrpSpPr>
          <p:cNvPr id="10" name="Group 9">
            <a:extLst>
              <a:ext uri="{FF2B5EF4-FFF2-40B4-BE49-F238E27FC236}">
                <a16:creationId xmlns:a16="http://schemas.microsoft.com/office/drawing/2014/main" id="{4F6DA15F-9B60-CE4F-6A82-C8B0A8B19775}"/>
              </a:ext>
            </a:extLst>
          </p:cNvPr>
          <p:cNvGrpSpPr/>
          <p:nvPr/>
        </p:nvGrpSpPr>
        <p:grpSpPr>
          <a:xfrm>
            <a:off x="2789859" y="1568386"/>
            <a:ext cx="8350210" cy="1451610"/>
            <a:chOff x="537312" y="1072695"/>
            <a:chExt cx="8350210" cy="1451610"/>
          </a:xfrm>
        </p:grpSpPr>
        <p:sp>
          <p:nvSpPr>
            <p:cNvPr id="6" name="Shape 1">
              <a:extLst>
                <a:ext uri="{FF2B5EF4-FFF2-40B4-BE49-F238E27FC236}">
                  <a16:creationId xmlns:a16="http://schemas.microsoft.com/office/drawing/2014/main" id="{DF20D390-D951-23CF-E65B-D104F7E5C72B}"/>
                </a:ext>
              </a:extLst>
            </p:cNvPr>
            <p:cNvSpPr/>
            <p:nvPr/>
          </p:nvSpPr>
          <p:spPr>
            <a:xfrm>
              <a:off x="537312" y="1072695"/>
              <a:ext cx="8350210" cy="1451610"/>
            </a:xfrm>
            <a:prstGeom prst="roundRect">
              <a:avLst>
                <a:gd name="adj" fmla="val 8521"/>
              </a:avLst>
            </a:prstGeom>
            <a:solidFill>
              <a:srgbClr val="F2EEEE"/>
            </a:solidFill>
            <a:ln/>
          </p:spPr>
          <p:txBody>
            <a:bodyPr/>
            <a:lstStyle/>
            <a:p>
              <a:endParaRPr lang="en-US"/>
            </a:p>
          </p:txBody>
        </p:sp>
        <p:sp>
          <p:nvSpPr>
            <p:cNvPr id="4" name="Text 1"/>
            <p:cNvSpPr/>
            <p:nvPr/>
          </p:nvSpPr>
          <p:spPr>
            <a:xfrm>
              <a:off x="793789" y="1258119"/>
              <a:ext cx="7556421" cy="1088708"/>
            </a:xfrm>
            <a:prstGeom prst="rect">
              <a:avLst/>
            </a:prstGeom>
            <a:noFill/>
            <a:ln/>
          </p:spPr>
          <p:txBody>
            <a:bodyPr wrap="square" lIns="0" tIns="0" rIns="0" bIns="0" rtlCol="0" anchor="t"/>
            <a:lstStyle/>
            <a:p>
              <a:pPr marL="0" indent="0" algn="l">
                <a:lnSpc>
                  <a:spcPts val="2850"/>
                </a:lnSpc>
                <a:buNone/>
              </a:pPr>
              <a:r>
                <a:rPr lang="en-US" sz="2000" dirty="0">
                  <a:solidFill>
                    <a:srgbClr val="464646"/>
                  </a:solidFill>
                  <a:latin typeface="Inter" pitchFamily="34" charset="0"/>
                  <a:ea typeface="Inter" pitchFamily="34" charset="-122"/>
                  <a:cs typeface="Inter" pitchFamily="34" charset="-120"/>
                </a:rPr>
                <a:t> </a:t>
              </a:r>
              <a:r>
                <a:rPr lang="en-US" sz="2000" b="1" dirty="0">
                  <a:solidFill>
                    <a:srgbClr val="464646"/>
                  </a:solidFill>
                  <a:latin typeface="Inter" pitchFamily="34" charset="0"/>
                  <a:ea typeface="Inter" pitchFamily="34" charset="-122"/>
                  <a:cs typeface="Inter" pitchFamily="34" charset="-120"/>
                </a:rPr>
                <a:t>Mục đích: </a:t>
              </a:r>
              <a:r>
                <a:rPr lang="en-US" sz="2000" dirty="0">
                  <a:solidFill>
                    <a:srgbClr val="464646"/>
                  </a:solidFill>
                  <a:latin typeface="Inter" pitchFamily="34" charset="0"/>
                  <a:ea typeface="Inter" pitchFamily="34" charset="-122"/>
                  <a:cs typeface="Inter" pitchFamily="34" charset="-120"/>
                </a:rPr>
                <a:t>Xây dựng hệ thống website quản lý dự án CNTT để các đội dễ dàng lập kế hoạch, theo dõi tiến độ, kiểm soát thời gian và chi phí một cách hiệu quả. </a:t>
              </a:r>
              <a:endParaRPr lang="en-US" sz="2000" dirty="0"/>
            </a:p>
          </p:txBody>
        </p:sp>
      </p:grpSp>
      <p:grpSp>
        <p:nvGrpSpPr>
          <p:cNvPr id="11" name="Group 10">
            <a:extLst>
              <a:ext uri="{FF2B5EF4-FFF2-40B4-BE49-F238E27FC236}">
                <a16:creationId xmlns:a16="http://schemas.microsoft.com/office/drawing/2014/main" id="{BA1A2B7C-80AA-F809-D7B2-B4BDC939FAD3}"/>
              </a:ext>
            </a:extLst>
          </p:cNvPr>
          <p:cNvGrpSpPr/>
          <p:nvPr/>
        </p:nvGrpSpPr>
        <p:grpSpPr>
          <a:xfrm>
            <a:off x="3464507" y="3756151"/>
            <a:ext cx="7000913" cy="3811942"/>
            <a:chOff x="537312" y="2774844"/>
            <a:chExt cx="7000913" cy="3811942"/>
          </a:xfrm>
        </p:grpSpPr>
        <p:sp>
          <p:nvSpPr>
            <p:cNvPr id="7" name="Shape 1">
              <a:extLst>
                <a:ext uri="{FF2B5EF4-FFF2-40B4-BE49-F238E27FC236}">
                  <a16:creationId xmlns:a16="http://schemas.microsoft.com/office/drawing/2014/main" id="{432AB5D2-A7C3-E567-A6F2-BF947B40C6F3}"/>
                </a:ext>
              </a:extLst>
            </p:cNvPr>
            <p:cNvSpPr/>
            <p:nvPr/>
          </p:nvSpPr>
          <p:spPr>
            <a:xfrm>
              <a:off x="537312" y="2774844"/>
              <a:ext cx="7000913" cy="3811942"/>
            </a:xfrm>
            <a:prstGeom prst="roundRect">
              <a:avLst>
                <a:gd name="adj" fmla="val 8521"/>
              </a:avLst>
            </a:prstGeom>
            <a:solidFill>
              <a:srgbClr val="F2EEEE"/>
            </a:solidFill>
            <a:ln/>
          </p:spPr>
          <p:txBody>
            <a:bodyPr/>
            <a:lstStyle/>
            <a:p>
              <a:endParaRPr lang="en-US"/>
            </a:p>
          </p:txBody>
        </p:sp>
        <p:sp>
          <p:nvSpPr>
            <p:cNvPr id="5" name="Text 2"/>
            <p:cNvSpPr/>
            <p:nvPr/>
          </p:nvSpPr>
          <p:spPr>
            <a:xfrm>
              <a:off x="793791" y="3021773"/>
              <a:ext cx="6521410" cy="2843767"/>
            </a:xfrm>
            <a:prstGeom prst="rect">
              <a:avLst/>
            </a:prstGeom>
            <a:noFill/>
            <a:ln/>
          </p:spPr>
          <p:txBody>
            <a:bodyPr wrap="square" lIns="0" tIns="0" rIns="0" bIns="0" rtlCol="0" anchor="t"/>
            <a:lstStyle/>
            <a:p>
              <a:pPr marL="0" indent="0" algn="l">
                <a:lnSpc>
                  <a:spcPct val="150000"/>
                </a:lnSpc>
                <a:buNone/>
              </a:pPr>
              <a:r>
                <a:rPr lang="en-US" sz="2000" dirty="0">
                  <a:solidFill>
                    <a:srgbClr val="464646"/>
                  </a:solidFill>
                  <a:latin typeface="Inter" pitchFamily="34" charset="0"/>
                  <a:ea typeface="Inter" pitchFamily="34" charset="-122"/>
                  <a:cs typeface="Inter" pitchFamily="34" charset="-120"/>
                </a:rPr>
                <a:t> </a:t>
              </a:r>
              <a:r>
                <a:rPr lang="en-US" sz="2000" b="1" dirty="0">
                  <a:solidFill>
                    <a:srgbClr val="464646"/>
                  </a:solidFill>
                  <a:latin typeface="Inter" pitchFamily="34" charset="0"/>
                  <a:ea typeface="Inter" pitchFamily="34" charset="-122"/>
                  <a:cs typeface="Inter" pitchFamily="34" charset="-120"/>
                </a:rPr>
                <a:t>Mục tiêu</a:t>
              </a:r>
              <a:r>
                <a:rPr lang="en-US" sz="2000" b="1">
                  <a:solidFill>
                    <a:srgbClr val="464646"/>
                  </a:solidFill>
                  <a:latin typeface="Inter" pitchFamily="34" charset="0"/>
                  <a:ea typeface="Inter" pitchFamily="34" charset="-122"/>
                  <a:cs typeface="Inter" pitchFamily="34" charset="-120"/>
                </a:rPr>
                <a:t>: </a:t>
              </a:r>
            </a:p>
            <a:p>
              <a:pPr marL="342900" indent="-342900" algn="l">
                <a:lnSpc>
                  <a:spcPct val="150000"/>
                </a:lnSpc>
                <a:buFont typeface="Wingdings" panose="05000000000000000000" pitchFamily="2" charset="2"/>
                <a:buChar char="Ø"/>
              </a:pPr>
              <a:r>
                <a:rPr lang="en-US" sz="2000">
                  <a:solidFill>
                    <a:srgbClr val="464646"/>
                  </a:solidFill>
                  <a:latin typeface="Inter" pitchFamily="34" charset="0"/>
                  <a:ea typeface="Inter" pitchFamily="34" charset="-122"/>
                  <a:cs typeface="Inter" pitchFamily="34" charset="-120"/>
                </a:rPr>
                <a:t>Hoàn </a:t>
              </a:r>
              <a:r>
                <a:rPr lang="en-US" sz="2000" dirty="0">
                  <a:solidFill>
                    <a:srgbClr val="464646"/>
                  </a:solidFill>
                  <a:latin typeface="Inter" pitchFamily="34" charset="0"/>
                  <a:ea typeface="Inter" pitchFamily="34" charset="-122"/>
                  <a:cs typeface="Inter" pitchFamily="34" charset="-120"/>
                </a:rPr>
                <a:t>thành thiết kế — lập trình — triển khai </a:t>
              </a:r>
              <a:r>
                <a:rPr lang="en-US" sz="2000">
                  <a:solidFill>
                    <a:srgbClr val="464646"/>
                  </a:solidFill>
                  <a:latin typeface="Inter" pitchFamily="34" charset="0"/>
                  <a:ea typeface="Inter" pitchFamily="34" charset="-122"/>
                  <a:cs typeface="Inter" pitchFamily="34" charset="-120"/>
                </a:rPr>
                <a:t>ổn định </a:t>
              </a:r>
            </a:p>
            <a:p>
              <a:pPr marL="342900" indent="-342900" algn="l">
                <a:lnSpc>
                  <a:spcPct val="150000"/>
                </a:lnSpc>
                <a:buFont typeface="Wingdings" panose="05000000000000000000" pitchFamily="2" charset="2"/>
                <a:buChar char="Ø"/>
              </a:pPr>
              <a:r>
                <a:rPr lang="en-US" sz="2000">
                  <a:solidFill>
                    <a:srgbClr val="464646"/>
                  </a:solidFill>
                  <a:latin typeface="Inter" pitchFamily="34" charset="0"/>
                  <a:ea typeface="Inter" pitchFamily="34" charset="-122"/>
                  <a:cs typeface="Inter" pitchFamily="34" charset="-120"/>
                </a:rPr>
                <a:t>Hỗ </a:t>
              </a:r>
              <a:r>
                <a:rPr lang="en-US" sz="2000" dirty="0">
                  <a:solidFill>
                    <a:srgbClr val="464646"/>
                  </a:solidFill>
                  <a:latin typeface="Inter" pitchFamily="34" charset="0"/>
                  <a:ea typeface="Inter" pitchFamily="34" charset="-122"/>
                  <a:cs typeface="Inter" pitchFamily="34" charset="-120"/>
                </a:rPr>
                <a:t>trợ phân quyền PM</a:t>
              </a:r>
              <a:r>
                <a:rPr lang="en-US" sz="2000">
                  <a:solidFill>
                    <a:srgbClr val="464646"/>
                  </a:solidFill>
                  <a:latin typeface="Inter" pitchFamily="34" charset="0"/>
                  <a:ea typeface="Inter" pitchFamily="34" charset="-122"/>
                  <a:cs typeface="Inter" pitchFamily="34" charset="-120"/>
                </a:rPr>
                <a:t>/Member </a:t>
              </a:r>
            </a:p>
            <a:p>
              <a:pPr marL="342900" indent="-342900" algn="l">
                <a:lnSpc>
                  <a:spcPct val="150000"/>
                </a:lnSpc>
                <a:buFont typeface="Wingdings" panose="05000000000000000000" pitchFamily="2" charset="2"/>
                <a:buChar char="Ø"/>
              </a:pPr>
              <a:r>
                <a:rPr lang="en-US" sz="2000">
                  <a:solidFill>
                    <a:srgbClr val="464646"/>
                  </a:solidFill>
                  <a:latin typeface="Inter" pitchFamily="34" charset="0"/>
                  <a:ea typeface="Inter" pitchFamily="34" charset="-122"/>
                  <a:cs typeface="Inter" pitchFamily="34" charset="-120"/>
                </a:rPr>
                <a:t>Quản </a:t>
              </a:r>
              <a:r>
                <a:rPr lang="en-US" sz="2000" dirty="0">
                  <a:solidFill>
                    <a:srgbClr val="464646"/>
                  </a:solidFill>
                  <a:latin typeface="Inter" pitchFamily="34" charset="0"/>
                  <a:ea typeface="Inter" pitchFamily="34" charset="-122"/>
                  <a:cs typeface="Inter" pitchFamily="34" charset="-120"/>
                </a:rPr>
                <a:t>lý truy cập bằng mã </a:t>
              </a:r>
              <a:r>
                <a:rPr lang="en-US" sz="2000">
                  <a:solidFill>
                    <a:srgbClr val="464646"/>
                  </a:solidFill>
                  <a:latin typeface="Inter" pitchFamily="34" charset="0"/>
                  <a:ea typeface="Inter" pitchFamily="34" charset="-122"/>
                  <a:cs typeface="Inter" pitchFamily="34" charset="-120"/>
                </a:rPr>
                <a:t>dự án </a:t>
              </a:r>
            </a:p>
            <a:p>
              <a:pPr marL="342900" indent="-342900" algn="l">
                <a:lnSpc>
                  <a:spcPct val="150000"/>
                </a:lnSpc>
                <a:buFont typeface="Wingdings" panose="05000000000000000000" pitchFamily="2" charset="2"/>
                <a:buChar char="Ø"/>
              </a:pPr>
              <a:r>
                <a:rPr lang="en-US" sz="2000">
                  <a:solidFill>
                    <a:srgbClr val="464646"/>
                  </a:solidFill>
                  <a:latin typeface="Inter" pitchFamily="34" charset="0"/>
                  <a:ea typeface="Inter" pitchFamily="34" charset="-122"/>
                  <a:cs typeface="Inter" pitchFamily="34" charset="-120"/>
                </a:rPr>
                <a:t>Triển </a:t>
              </a:r>
              <a:r>
                <a:rPr lang="en-US" sz="2000" dirty="0">
                  <a:solidFill>
                    <a:srgbClr val="464646"/>
                  </a:solidFill>
                  <a:latin typeface="Inter" pitchFamily="34" charset="0"/>
                  <a:ea typeface="Inter" pitchFamily="34" charset="-122"/>
                  <a:cs typeface="Inter" pitchFamily="34" charset="-120"/>
                </a:rPr>
                <a:t>khai các chức năng cốt lõi: Quản lý công việc, Ước lượng thời gian (Expert), Ước lượng chi phí, Quản lý lịch trình dự án và lịch trình công việc.</a:t>
              </a:r>
              <a:endParaRPr lang="en-US" sz="2000" dirty="0"/>
            </a:p>
          </p:txBody>
        </p:sp>
      </p:grpSp>
      <p:pic>
        <p:nvPicPr>
          <p:cNvPr id="2" name="Picture 1">
            <a:extLst>
              <a:ext uri="{FF2B5EF4-FFF2-40B4-BE49-F238E27FC236}">
                <a16:creationId xmlns:a16="http://schemas.microsoft.com/office/drawing/2014/main" id="{690A3D9B-3ADD-040B-D463-BC262DF2E0CE}"/>
              </a:ext>
            </a:extLst>
          </p:cNvPr>
          <p:cNvPicPr>
            <a:picLocks noChangeAspect="1"/>
          </p:cNvPicPr>
          <p:nvPr/>
        </p:nvPicPr>
        <p:blipFill>
          <a:blip r:embed="rId3"/>
          <a:stretch>
            <a:fillRect/>
          </a:stretch>
        </p:blipFill>
        <p:spPr>
          <a:xfrm>
            <a:off x="12812961" y="7617505"/>
            <a:ext cx="1817439" cy="7035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793790" y="1152168"/>
            <a:ext cx="7155656" cy="566976"/>
          </a:xfrm>
          <a:prstGeom prst="rect">
            <a:avLst/>
          </a:prstGeom>
          <a:noFill/>
          <a:ln/>
        </p:spPr>
        <p:txBody>
          <a:bodyPr wrap="none" lIns="0" tIns="0" rIns="0" bIns="0" rtlCol="0" anchor="t"/>
          <a:lstStyle/>
          <a:p>
            <a:pPr marL="0" indent="0" algn="l">
              <a:lnSpc>
                <a:spcPts val="4450"/>
              </a:lnSpc>
              <a:buNone/>
            </a:pPr>
            <a:r>
              <a:rPr lang="en-US" sz="3550">
                <a:solidFill>
                  <a:srgbClr val="030303"/>
                </a:solidFill>
                <a:latin typeface="Inter Semi Bold" pitchFamily="34" charset="0"/>
                <a:ea typeface="Inter Semi Bold" pitchFamily="34" charset="-122"/>
                <a:cs typeface="Inter Semi Bold" pitchFamily="34" charset="-120"/>
              </a:rPr>
              <a:t>Các công nghệ sử dụng </a:t>
            </a:r>
            <a:endParaRPr lang="en-US" sz="3550" dirty="0"/>
          </a:p>
        </p:txBody>
      </p:sp>
      <p:sp>
        <p:nvSpPr>
          <p:cNvPr id="4" name="Shape 1"/>
          <p:cNvSpPr/>
          <p:nvPr/>
        </p:nvSpPr>
        <p:spPr>
          <a:xfrm>
            <a:off x="10495251" y="2692210"/>
            <a:ext cx="3664744" cy="2395657"/>
          </a:xfrm>
          <a:prstGeom prst="roundRect">
            <a:avLst>
              <a:gd name="adj" fmla="val 8521"/>
            </a:avLst>
          </a:prstGeom>
          <a:solidFill>
            <a:srgbClr val="F2EEEE"/>
          </a:solidFill>
          <a:ln/>
        </p:spPr>
        <p:txBody>
          <a:bodyPr/>
          <a:lstStyle/>
          <a:p>
            <a:endParaRPr lang="en-US"/>
          </a:p>
        </p:txBody>
      </p:sp>
      <p:sp>
        <p:nvSpPr>
          <p:cNvPr id="5" name="Text 2"/>
          <p:cNvSpPr/>
          <p:nvPr/>
        </p:nvSpPr>
        <p:spPr>
          <a:xfrm>
            <a:off x="10722065" y="2919024"/>
            <a:ext cx="3122427" cy="354330"/>
          </a:xfrm>
          <a:prstGeom prst="rect">
            <a:avLst/>
          </a:prstGeom>
          <a:noFill/>
          <a:ln/>
        </p:spPr>
        <p:txBody>
          <a:bodyPr wrap="none" lIns="0" tIns="0" rIns="0" bIns="0" rtlCol="0" anchor="t"/>
          <a:lstStyle/>
          <a:p>
            <a:pPr marL="0" indent="0" algn="ctr">
              <a:lnSpc>
                <a:spcPts val="2750"/>
              </a:lnSpc>
              <a:buNone/>
            </a:pPr>
            <a:r>
              <a:rPr lang="en-US" sz="2400" b="1" dirty="0">
                <a:solidFill>
                  <a:srgbClr val="464646"/>
                </a:solidFill>
                <a:latin typeface="Inter Semi Bold" pitchFamily="34" charset="0"/>
                <a:ea typeface="Inter Semi Bold" pitchFamily="34" charset="-122"/>
                <a:cs typeface="Inter Semi Bold" pitchFamily="34" charset="-120"/>
              </a:rPr>
              <a:t>Frontend</a:t>
            </a:r>
            <a:endParaRPr lang="en-US" sz="2400" b="1" dirty="0"/>
          </a:p>
        </p:txBody>
      </p:sp>
      <p:sp>
        <p:nvSpPr>
          <p:cNvPr id="6" name="Text 3"/>
          <p:cNvSpPr/>
          <p:nvPr/>
        </p:nvSpPr>
        <p:spPr>
          <a:xfrm>
            <a:off x="10722065" y="3409443"/>
            <a:ext cx="3211116" cy="1451610"/>
          </a:xfrm>
          <a:prstGeom prst="rect">
            <a:avLst/>
          </a:prstGeom>
          <a:noFill/>
          <a:ln/>
        </p:spPr>
        <p:txBody>
          <a:bodyPr wrap="square" lIns="0" tIns="0" rIns="0" bIns="0" rtlCol="0" anchor="t"/>
          <a:lstStyle/>
          <a:p>
            <a:pPr marL="0" indent="0" algn="ctr">
              <a:lnSpc>
                <a:spcPts val="2850"/>
              </a:lnSpc>
              <a:buNone/>
            </a:pPr>
            <a:r>
              <a:rPr lang="en-US" sz="1750" dirty="0">
                <a:solidFill>
                  <a:srgbClr val="464646"/>
                </a:solidFill>
                <a:latin typeface="Inter" pitchFamily="34" charset="0"/>
                <a:ea typeface="Inter" pitchFamily="34" charset="-122"/>
                <a:cs typeface="Inter" pitchFamily="34" charset="-120"/>
              </a:rPr>
              <a:t>ReactJS (Vite) + Tailwind CSS, Ant Design components. Protected Routes &amp; Context API.</a:t>
            </a:r>
            <a:endParaRPr lang="en-US" sz="1750" dirty="0"/>
          </a:p>
        </p:txBody>
      </p:sp>
      <p:sp>
        <p:nvSpPr>
          <p:cNvPr id="7" name="Shape 4"/>
          <p:cNvSpPr/>
          <p:nvPr/>
        </p:nvSpPr>
        <p:spPr>
          <a:xfrm>
            <a:off x="470405" y="2692210"/>
            <a:ext cx="3664863" cy="2395657"/>
          </a:xfrm>
          <a:prstGeom prst="roundRect">
            <a:avLst>
              <a:gd name="adj" fmla="val 8521"/>
            </a:avLst>
          </a:prstGeom>
          <a:solidFill>
            <a:srgbClr val="F2EEEE"/>
          </a:solidFill>
          <a:ln/>
        </p:spPr>
        <p:txBody>
          <a:bodyPr/>
          <a:lstStyle/>
          <a:p>
            <a:endParaRPr lang="en-US"/>
          </a:p>
        </p:txBody>
      </p:sp>
      <p:sp>
        <p:nvSpPr>
          <p:cNvPr id="8" name="Text 5"/>
          <p:cNvSpPr/>
          <p:nvPr/>
        </p:nvSpPr>
        <p:spPr>
          <a:xfrm>
            <a:off x="697219" y="2919024"/>
            <a:ext cx="3122427" cy="354330"/>
          </a:xfrm>
          <a:prstGeom prst="rect">
            <a:avLst/>
          </a:prstGeom>
          <a:noFill/>
          <a:ln/>
        </p:spPr>
        <p:txBody>
          <a:bodyPr wrap="none" lIns="0" tIns="0" rIns="0" bIns="0" rtlCol="0" anchor="t"/>
          <a:lstStyle/>
          <a:p>
            <a:pPr marL="0" indent="0" algn="ctr">
              <a:lnSpc>
                <a:spcPts val="2750"/>
              </a:lnSpc>
              <a:buNone/>
            </a:pPr>
            <a:r>
              <a:rPr lang="en-US" sz="2400" b="1" dirty="0">
                <a:solidFill>
                  <a:srgbClr val="464646"/>
                </a:solidFill>
                <a:latin typeface="Inter Semi Bold" pitchFamily="34" charset="0"/>
                <a:ea typeface="Inter Semi Bold" pitchFamily="34" charset="-122"/>
                <a:cs typeface="Inter Semi Bold" pitchFamily="34" charset="-120"/>
              </a:rPr>
              <a:t>Backend</a:t>
            </a:r>
            <a:endParaRPr lang="en-US" sz="2400" b="1" dirty="0"/>
          </a:p>
        </p:txBody>
      </p:sp>
      <p:sp>
        <p:nvSpPr>
          <p:cNvPr id="9" name="Text 6"/>
          <p:cNvSpPr/>
          <p:nvPr/>
        </p:nvSpPr>
        <p:spPr>
          <a:xfrm>
            <a:off x="697219" y="3409443"/>
            <a:ext cx="3211235" cy="1088708"/>
          </a:xfrm>
          <a:prstGeom prst="rect">
            <a:avLst/>
          </a:prstGeom>
          <a:noFill/>
          <a:ln/>
        </p:spPr>
        <p:txBody>
          <a:bodyPr wrap="square" lIns="0" tIns="0" rIns="0" bIns="0" rtlCol="0" anchor="t"/>
          <a:lstStyle/>
          <a:p>
            <a:pPr marL="0" indent="0" algn="ctr">
              <a:lnSpc>
                <a:spcPts val="2850"/>
              </a:lnSpc>
              <a:buNone/>
            </a:pPr>
            <a:r>
              <a:rPr lang="en-US" sz="1750" dirty="0">
                <a:solidFill>
                  <a:srgbClr val="464646"/>
                </a:solidFill>
                <a:latin typeface="Inter" pitchFamily="34" charset="0"/>
                <a:ea typeface="Inter" pitchFamily="34" charset="-122"/>
                <a:cs typeface="Inter" pitchFamily="34" charset="-120"/>
              </a:rPr>
              <a:t>FastAPI, JWT authentication, RESTful endpoints, xử lý business logic, validation.</a:t>
            </a:r>
            <a:endParaRPr lang="en-US" sz="1750" dirty="0"/>
          </a:p>
        </p:txBody>
      </p:sp>
      <p:sp>
        <p:nvSpPr>
          <p:cNvPr id="10" name="Shape 7"/>
          <p:cNvSpPr/>
          <p:nvPr/>
        </p:nvSpPr>
        <p:spPr>
          <a:xfrm>
            <a:off x="5527896" y="3663224"/>
            <a:ext cx="3664744" cy="2395655"/>
          </a:xfrm>
          <a:prstGeom prst="roundRect">
            <a:avLst>
              <a:gd name="adj" fmla="val 8521"/>
            </a:avLst>
          </a:prstGeom>
          <a:solidFill>
            <a:srgbClr val="F2EEEE"/>
          </a:solidFill>
          <a:ln/>
        </p:spPr>
        <p:txBody>
          <a:bodyPr/>
          <a:lstStyle/>
          <a:p>
            <a:endParaRPr lang="en-US"/>
          </a:p>
        </p:txBody>
      </p:sp>
      <p:sp>
        <p:nvSpPr>
          <p:cNvPr id="11" name="Text 8"/>
          <p:cNvSpPr/>
          <p:nvPr/>
        </p:nvSpPr>
        <p:spPr>
          <a:xfrm>
            <a:off x="5754710" y="3890038"/>
            <a:ext cx="3122427" cy="354330"/>
          </a:xfrm>
          <a:prstGeom prst="rect">
            <a:avLst/>
          </a:prstGeom>
          <a:noFill/>
          <a:ln/>
        </p:spPr>
        <p:txBody>
          <a:bodyPr wrap="none" lIns="0" tIns="0" rIns="0" bIns="0" rtlCol="0" anchor="t"/>
          <a:lstStyle/>
          <a:p>
            <a:pPr marL="0" indent="0" algn="ctr">
              <a:lnSpc>
                <a:spcPts val="2750"/>
              </a:lnSpc>
              <a:buNone/>
            </a:pPr>
            <a:r>
              <a:rPr lang="en-US" sz="2400" b="1" dirty="0">
                <a:solidFill>
                  <a:srgbClr val="464646"/>
                </a:solidFill>
                <a:latin typeface="Inter Semi Bold" pitchFamily="34" charset="0"/>
                <a:ea typeface="Inter Semi Bold" pitchFamily="34" charset="-122"/>
                <a:cs typeface="Inter Semi Bold" pitchFamily="34" charset="-120"/>
              </a:rPr>
              <a:t>Auth &amp; Bảo mật</a:t>
            </a:r>
            <a:endParaRPr lang="en-US" sz="2400" b="1" dirty="0"/>
          </a:p>
        </p:txBody>
      </p:sp>
      <p:sp>
        <p:nvSpPr>
          <p:cNvPr id="12" name="Text 9"/>
          <p:cNvSpPr/>
          <p:nvPr/>
        </p:nvSpPr>
        <p:spPr>
          <a:xfrm>
            <a:off x="5754710" y="4380456"/>
            <a:ext cx="3211116" cy="1451610"/>
          </a:xfrm>
          <a:prstGeom prst="rect">
            <a:avLst/>
          </a:prstGeom>
          <a:noFill/>
          <a:ln/>
        </p:spPr>
        <p:txBody>
          <a:bodyPr wrap="square" lIns="0" tIns="0" rIns="0" bIns="0" rtlCol="0" anchor="t"/>
          <a:lstStyle/>
          <a:p>
            <a:pPr marL="0" indent="0" algn="ctr">
              <a:lnSpc>
                <a:spcPts val="2850"/>
              </a:lnSpc>
              <a:buNone/>
            </a:pPr>
            <a:r>
              <a:rPr lang="en-US" sz="1750" dirty="0">
                <a:solidFill>
                  <a:srgbClr val="464646"/>
                </a:solidFill>
                <a:latin typeface="Inter" pitchFamily="34" charset="0"/>
                <a:ea typeface="Inter" pitchFamily="34" charset="-122"/>
                <a:cs typeface="Inter" pitchFamily="34" charset="-120"/>
              </a:rPr>
              <a:t>JWT</a:t>
            </a:r>
            <a:r>
              <a:rPr lang="en-US" sz="1750">
                <a:solidFill>
                  <a:srgbClr val="464646"/>
                </a:solidFill>
                <a:latin typeface="Inter" pitchFamily="34" charset="0"/>
                <a:ea typeface="Inter" pitchFamily="34" charset="-122"/>
                <a:cs typeface="Inter" pitchFamily="34" charset="-120"/>
              </a:rPr>
              <a:t>, Axios </a:t>
            </a:r>
            <a:r>
              <a:rPr lang="en-US" sz="1750" dirty="0">
                <a:solidFill>
                  <a:srgbClr val="464646"/>
                </a:solidFill>
                <a:latin typeface="Inter" pitchFamily="34" charset="0"/>
                <a:ea typeface="Inter" pitchFamily="34" charset="-122"/>
                <a:cs typeface="Inter" pitchFamily="34" charset="-120"/>
              </a:rPr>
              <a:t>Interceptors (frontend) để đính kèm token và xử lý </a:t>
            </a:r>
            <a:r>
              <a:rPr lang="en-US" sz="1750">
                <a:solidFill>
                  <a:srgbClr val="464646"/>
                </a:solidFill>
                <a:latin typeface="Inter" pitchFamily="34" charset="0"/>
                <a:ea typeface="Inter" pitchFamily="34" charset="-122"/>
                <a:cs typeface="Inter" pitchFamily="34" charset="-120"/>
              </a:rPr>
              <a:t>lỗi 401 (thiếu hoặc sai thông tin xác thực).</a:t>
            </a:r>
            <a:endParaRPr lang="en-US" sz="1750" dirty="0"/>
          </a:p>
        </p:txBody>
      </p:sp>
      <p:sp>
        <p:nvSpPr>
          <p:cNvPr id="16" name="Text 0">
            <a:extLst>
              <a:ext uri="{FF2B5EF4-FFF2-40B4-BE49-F238E27FC236}">
                <a16:creationId xmlns:a16="http://schemas.microsoft.com/office/drawing/2014/main" id="{3F59A446-5A04-759D-BBE9-159AFCF2FBE5}"/>
              </a:ext>
            </a:extLst>
          </p:cNvPr>
          <p:cNvSpPr/>
          <p:nvPr/>
        </p:nvSpPr>
        <p:spPr>
          <a:xfrm>
            <a:off x="291986" y="265884"/>
            <a:ext cx="5785430" cy="766680"/>
          </a:xfrm>
          <a:prstGeom prst="rect">
            <a:avLst/>
          </a:prstGeom>
          <a:noFill/>
          <a:ln/>
        </p:spPr>
        <p:txBody>
          <a:bodyPr wrap="square" lIns="0" tIns="0" rIns="0" bIns="0" rtlCol="0" anchor="t"/>
          <a:lstStyle/>
          <a:p>
            <a:pPr marL="0" indent="0" algn="l">
              <a:lnSpc>
                <a:spcPts val="5550"/>
              </a:lnSpc>
              <a:buNone/>
            </a:pPr>
            <a:r>
              <a:rPr lang="en-US" sz="4450">
                <a:solidFill>
                  <a:srgbClr val="030303"/>
                </a:solidFill>
                <a:latin typeface="Inter Semi Bold" pitchFamily="34" charset="0"/>
                <a:ea typeface="Inter Semi Bold" pitchFamily="34" charset="-122"/>
                <a:cs typeface="Inter Semi Bold" pitchFamily="34" charset="-120"/>
              </a:rPr>
              <a:t>2: Kiến trúc hệ thống</a:t>
            </a:r>
            <a:endParaRPr lang="en-US" sz="4450" dirty="0"/>
          </a:p>
        </p:txBody>
      </p:sp>
      <p:pic>
        <p:nvPicPr>
          <p:cNvPr id="1026" name="Picture 2">
            <a:extLst>
              <a:ext uri="{FF2B5EF4-FFF2-40B4-BE49-F238E27FC236}">
                <a16:creationId xmlns:a16="http://schemas.microsoft.com/office/drawing/2014/main" id="{3F167234-DFEB-8DAF-B9F1-0F010DD0EC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395" y="5268184"/>
            <a:ext cx="3142882" cy="5819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rstanding JWT (JSON Web Token) | by Majd Soubh | Medium">
            <a:extLst>
              <a:ext uri="{FF2B5EF4-FFF2-40B4-BE49-F238E27FC236}">
                <a16:creationId xmlns:a16="http://schemas.microsoft.com/office/drawing/2014/main" id="{3C5B581E-E6C9-C596-BC6A-C94D49642B7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064" t="30369" r="25853" b="30369"/>
          <a:stretch>
            <a:fillRect/>
          </a:stretch>
        </p:blipFill>
        <p:spPr bwMode="auto">
          <a:xfrm>
            <a:off x="5680718" y="6280823"/>
            <a:ext cx="3359100" cy="168289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eloop">
            <a:extLst>
              <a:ext uri="{FF2B5EF4-FFF2-40B4-BE49-F238E27FC236}">
                <a16:creationId xmlns:a16="http://schemas.microsoft.com/office/drawing/2014/main" id="{5F8D382B-5988-AE6B-BD3B-47B7910C8E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05893" y="4997142"/>
            <a:ext cx="2594912" cy="145963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A87B90C-A293-4DBE-6856-C7DDCC3B98C3}"/>
              </a:ext>
            </a:extLst>
          </p:cNvPr>
          <p:cNvPicPr>
            <a:picLocks noChangeAspect="1"/>
          </p:cNvPicPr>
          <p:nvPr/>
        </p:nvPicPr>
        <p:blipFill>
          <a:blip r:embed="rId6"/>
          <a:stretch>
            <a:fillRect/>
          </a:stretch>
        </p:blipFill>
        <p:spPr>
          <a:xfrm>
            <a:off x="12812961" y="7617505"/>
            <a:ext cx="1817439" cy="7035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072537-E700-D849-5DC1-547D14777F9D}"/>
              </a:ext>
            </a:extLst>
          </p:cNvPr>
          <p:cNvPicPr>
            <a:picLocks noChangeAspect="1"/>
          </p:cNvPicPr>
          <p:nvPr/>
        </p:nvPicPr>
        <p:blipFill>
          <a:blip r:embed="rId3"/>
          <a:stretch>
            <a:fillRect/>
          </a:stretch>
        </p:blipFill>
        <p:spPr>
          <a:xfrm>
            <a:off x="12812961" y="7617505"/>
            <a:ext cx="1817439" cy="703535"/>
          </a:xfrm>
          <a:prstGeom prst="rect">
            <a:avLst/>
          </a:prstGeom>
        </p:spPr>
      </p:pic>
      <p:sp>
        <p:nvSpPr>
          <p:cNvPr id="3" name="Text 0"/>
          <p:cNvSpPr/>
          <p:nvPr/>
        </p:nvSpPr>
        <p:spPr>
          <a:xfrm>
            <a:off x="5053555" y="220913"/>
            <a:ext cx="7108984" cy="566976"/>
          </a:xfrm>
          <a:prstGeom prst="rect">
            <a:avLst/>
          </a:prstGeom>
          <a:noFill/>
          <a:ln/>
        </p:spPr>
        <p:txBody>
          <a:bodyPr wrap="none" lIns="0" tIns="0" rIns="0" bIns="0" rtlCol="0" anchor="t"/>
          <a:lstStyle/>
          <a:p>
            <a:pPr marL="0" indent="0" algn="l">
              <a:lnSpc>
                <a:spcPts val="4450"/>
              </a:lnSpc>
              <a:buNone/>
            </a:pPr>
            <a:r>
              <a:rPr lang="en-US" sz="3550">
                <a:solidFill>
                  <a:srgbClr val="030303"/>
                </a:solidFill>
                <a:latin typeface="Inter Semi Bold" pitchFamily="34" charset="0"/>
                <a:ea typeface="Inter Semi Bold" pitchFamily="34" charset="-122"/>
              </a:rPr>
              <a:t>Kiến trúc cơ sở dữ liệu </a:t>
            </a:r>
            <a:endParaRPr lang="en-US" sz="3550" dirty="0"/>
          </a:p>
        </p:txBody>
      </p:sp>
      <p:grpSp>
        <p:nvGrpSpPr>
          <p:cNvPr id="8" name="Group 7">
            <a:extLst>
              <a:ext uri="{FF2B5EF4-FFF2-40B4-BE49-F238E27FC236}">
                <a16:creationId xmlns:a16="http://schemas.microsoft.com/office/drawing/2014/main" id="{B31206BE-2EEB-56DA-1B2C-E66D38650238}"/>
              </a:ext>
            </a:extLst>
          </p:cNvPr>
          <p:cNvGrpSpPr/>
          <p:nvPr/>
        </p:nvGrpSpPr>
        <p:grpSpPr>
          <a:xfrm>
            <a:off x="483390" y="1646143"/>
            <a:ext cx="3664863" cy="2395657"/>
            <a:chOff x="470405" y="2692210"/>
            <a:chExt cx="3664863" cy="2395657"/>
          </a:xfrm>
        </p:grpSpPr>
        <p:sp>
          <p:nvSpPr>
            <p:cNvPr id="5" name="Shape 4">
              <a:extLst>
                <a:ext uri="{FF2B5EF4-FFF2-40B4-BE49-F238E27FC236}">
                  <a16:creationId xmlns:a16="http://schemas.microsoft.com/office/drawing/2014/main" id="{1C16FCCD-B92A-2693-1D30-2C5C032804B6}"/>
                </a:ext>
              </a:extLst>
            </p:cNvPr>
            <p:cNvSpPr/>
            <p:nvPr/>
          </p:nvSpPr>
          <p:spPr>
            <a:xfrm>
              <a:off x="470405" y="2692210"/>
              <a:ext cx="3664863" cy="2395657"/>
            </a:xfrm>
            <a:prstGeom prst="roundRect">
              <a:avLst>
                <a:gd name="adj" fmla="val 8521"/>
              </a:avLst>
            </a:prstGeom>
            <a:solidFill>
              <a:srgbClr val="F2EEEE"/>
            </a:solidFill>
            <a:ln/>
          </p:spPr>
          <p:txBody>
            <a:bodyPr/>
            <a:lstStyle/>
            <a:p>
              <a:endParaRPr lang="en-US"/>
            </a:p>
          </p:txBody>
        </p:sp>
        <p:sp>
          <p:nvSpPr>
            <p:cNvPr id="6" name="Text 5">
              <a:extLst>
                <a:ext uri="{FF2B5EF4-FFF2-40B4-BE49-F238E27FC236}">
                  <a16:creationId xmlns:a16="http://schemas.microsoft.com/office/drawing/2014/main" id="{DA1D2520-9206-1DED-D8DB-DC5E7336F4D0}"/>
                </a:ext>
              </a:extLst>
            </p:cNvPr>
            <p:cNvSpPr/>
            <p:nvPr/>
          </p:nvSpPr>
          <p:spPr>
            <a:xfrm>
              <a:off x="697219" y="2823312"/>
              <a:ext cx="3211235" cy="358799"/>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rPr>
                <a:t>User</a:t>
              </a:r>
              <a:endParaRPr lang="en-US" sz="2400" b="1" dirty="0"/>
            </a:p>
          </p:txBody>
        </p:sp>
        <p:sp>
          <p:nvSpPr>
            <p:cNvPr id="7" name="Text 6">
              <a:extLst>
                <a:ext uri="{FF2B5EF4-FFF2-40B4-BE49-F238E27FC236}">
                  <a16:creationId xmlns:a16="http://schemas.microsoft.com/office/drawing/2014/main" id="{A4593871-5A22-DE99-E3AB-5DAD078F2BD5}"/>
                </a:ext>
              </a:extLst>
            </p:cNvPr>
            <p:cNvSpPr/>
            <p:nvPr/>
          </p:nvSpPr>
          <p:spPr>
            <a:xfrm>
              <a:off x="470405" y="3277823"/>
              <a:ext cx="3664863" cy="1678424"/>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id</a:t>
              </a:r>
            </a:p>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email</a:t>
              </a:r>
            </a:p>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password_hash</a:t>
              </a:r>
            </a:p>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full_name (Họ và tên)</a:t>
              </a:r>
            </a:p>
          </p:txBody>
        </p:sp>
      </p:grpSp>
      <p:grpSp>
        <p:nvGrpSpPr>
          <p:cNvPr id="9" name="Group 8">
            <a:extLst>
              <a:ext uri="{FF2B5EF4-FFF2-40B4-BE49-F238E27FC236}">
                <a16:creationId xmlns:a16="http://schemas.microsoft.com/office/drawing/2014/main" id="{B17E045E-DA29-5E35-63B6-B4294EDBBE1A}"/>
              </a:ext>
            </a:extLst>
          </p:cNvPr>
          <p:cNvGrpSpPr/>
          <p:nvPr/>
        </p:nvGrpSpPr>
        <p:grpSpPr>
          <a:xfrm>
            <a:off x="483390" y="5514103"/>
            <a:ext cx="3664863" cy="2395657"/>
            <a:chOff x="470405" y="2692210"/>
            <a:chExt cx="3664863" cy="2395657"/>
          </a:xfrm>
        </p:grpSpPr>
        <p:sp>
          <p:nvSpPr>
            <p:cNvPr id="10" name="Shape 4">
              <a:extLst>
                <a:ext uri="{FF2B5EF4-FFF2-40B4-BE49-F238E27FC236}">
                  <a16:creationId xmlns:a16="http://schemas.microsoft.com/office/drawing/2014/main" id="{B60089ED-999B-506F-315F-9100A6356BFA}"/>
                </a:ext>
              </a:extLst>
            </p:cNvPr>
            <p:cNvSpPr/>
            <p:nvPr/>
          </p:nvSpPr>
          <p:spPr>
            <a:xfrm>
              <a:off x="470405" y="2692210"/>
              <a:ext cx="3664863" cy="2395657"/>
            </a:xfrm>
            <a:prstGeom prst="roundRect">
              <a:avLst>
                <a:gd name="adj" fmla="val 8521"/>
              </a:avLst>
            </a:prstGeom>
            <a:solidFill>
              <a:srgbClr val="F2EEEE"/>
            </a:solidFill>
            <a:ln/>
          </p:spPr>
          <p:txBody>
            <a:bodyPr/>
            <a:lstStyle/>
            <a:p>
              <a:endParaRPr lang="en-US"/>
            </a:p>
          </p:txBody>
        </p:sp>
        <p:sp>
          <p:nvSpPr>
            <p:cNvPr id="11" name="Text 5">
              <a:extLst>
                <a:ext uri="{FF2B5EF4-FFF2-40B4-BE49-F238E27FC236}">
                  <a16:creationId xmlns:a16="http://schemas.microsoft.com/office/drawing/2014/main" id="{5854F279-6A57-6B5D-2D44-8D72CB7D77F1}"/>
                </a:ext>
              </a:extLst>
            </p:cNvPr>
            <p:cNvSpPr/>
            <p:nvPr/>
          </p:nvSpPr>
          <p:spPr>
            <a:xfrm>
              <a:off x="697219" y="2823312"/>
              <a:ext cx="3211235" cy="358799"/>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rPr>
                <a:t>Project</a:t>
              </a:r>
              <a:endParaRPr lang="en-US" sz="2400" b="1" dirty="0"/>
            </a:p>
          </p:txBody>
        </p:sp>
        <p:sp>
          <p:nvSpPr>
            <p:cNvPr id="12" name="Text 6">
              <a:extLst>
                <a:ext uri="{FF2B5EF4-FFF2-40B4-BE49-F238E27FC236}">
                  <a16:creationId xmlns:a16="http://schemas.microsoft.com/office/drawing/2014/main" id="{0FABDEEE-E407-4A42-971A-3981F9F5DCCA}"/>
                </a:ext>
              </a:extLst>
            </p:cNvPr>
            <p:cNvSpPr/>
            <p:nvPr/>
          </p:nvSpPr>
          <p:spPr>
            <a:xfrm>
              <a:off x="470405" y="3277823"/>
              <a:ext cx="3664863" cy="1678424"/>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id</a:t>
              </a:r>
            </a:p>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project_code ( mã dự án)</a:t>
              </a:r>
            </a:p>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name (Tên dự án)</a:t>
              </a:r>
            </a:p>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description (Mô tả dự án)</a:t>
              </a:r>
            </a:p>
          </p:txBody>
        </p:sp>
      </p:grpSp>
      <p:grpSp>
        <p:nvGrpSpPr>
          <p:cNvPr id="13" name="Group 12">
            <a:extLst>
              <a:ext uri="{FF2B5EF4-FFF2-40B4-BE49-F238E27FC236}">
                <a16:creationId xmlns:a16="http://schemas.microsoft.com/office/drawing/2014/main" id="{AED94B5F-5301-1F59-7B73-0986734953DB}"/>
              </a:ext>
            </a:extLst>
          </p:cNvPr>
          <p:cNvGrpSpPr/>
          <p:nvPr/>
        </p:nvGrpSpPr>
        <p:grpSpPr>
          <a:xfrm>
            <a:off x="5053555" y="3430243"/>
            <a:ext cx="3664863" cy="2395657"/>
            <a:chOff x="470405" y="2692210"/>
            <a:chExt cx="3664863" cy="2395657"/>
          </a:xfrm>
        </p:grpSpPr>
        <p:sp>
          <p:nvSpPr>
            <p:cNvPr id="14" name="Shape 4">
              <a:extLst>
                <a:ext uri="{FF2B5EF4-FFF2-40B4-BE49-F238E27FC236}">
                  <a16:creationId xmlns:a16="http://schemas.microsoft.com/office/drawing/2014/main" id="{6DF1A8C6-ABA8-3628-CE35-E211A3503B0A}"/>
                </a:ext>
              </a:extLst>
            </p:cNvPr>
            <p:cNvSpPr/>
            <p:nvPr/>
          </p:nvSpPr>
          <p:spPr>
            <a:xfrm>
              <a:off x="470405" y="2692210"/>
              <a:ext cx="3664863" cy="2395657"/>
            </a:xfrm>
            <a:prstGeom prst="roundRect">
              <a:avLst>
                <a:gd name="adj" fmla="val 8521"/>
              </a:avLst>
            </a:prstGeom>
            <a:solidFill>
              <a:srgbClr val="F2EEEE"/>
            </a:solidFill>
            <a:ln/>
          </p:spPr>
          <p:txBody>
            <a:bodyPr/>
            <a:lstStyle/>
            <a:p>
              <a:endParaRPr lang="en-US"/>
            </a:p>
          </p:txBody>
        </p:sp>
        <p:sp>
          <p:nvSpPr>
            <p:cNvPr id="15" name="Text 5">
              <a:extLst>
                <a:ext uri="{FF2B5EF4-FFF2-40B4-BE49-F238E27FC236}">
                  <a16:creationId xmlns:a16="http://schemas.microsoft.com/office/drawing/2014/main" id="{8B62D44D-4E47-7AEB-ADF8-9EA907798EAC}"/>
                </a:ext>
              </a:extLst>
            </p:cNvPr>
            <p:cNvSpPr/>
            <p:nvPr/>
          </p:nvSpPr>
          <p:spPr>
            <a:xfrm>
              <a:off x="697219" y="2823312"/>
              <a:ext cx="3211235" cy="358799"/>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rPr>
                <a:t>Project_Member</a:t>
              </a:r>
              <a:endParaRPr lang="en-US" sz="2400" b="1" dirty="0"/>
            </a:p>
          </p:txBody>
        </p:sp>
        <p:sp>
          <p:nvSpPr>
            <p:cNvPr id="16" name="Text 6">
              <a:extLst>
                <a:ext uri="{FF2B5EF4-FFF2-40B4-BE49-F238E27FC236}">
                  <a16:creationId xmlns:a16="http://schemas.microsoft.com/office/drawing/2014/main" id="{BCE26505-7B1D-DDAA-5467-AAA1523DCBE9}"/>
                </a:ext>
              </a:extLst>
            </p:cNvPr>
            <p:cNvSpPr/>
            <p:nvPr/>
          </p:nvSpPr>
          <p:spPr>
            <a:xfrm>
              <a:off x="470405" y="3277823"/>
              <a:ext cx="3664863" cy="1678424"/>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id (Khóa chính)</a:t>
              </a: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user_id </a:t>
              </a:r>
              <a:endParaRPr lang="en-US">
                <a:solidFill>
                  <a:srgbClr val="464646"/>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project_id </a:t>
              </a:r>
              <a:endParaRPr lang="en-US">
                <a:solidFill>
                  <a:srgbClr val="464646"/>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role (PM</a:t>
              </a:r>
              <a:r>
                <a:rPr lang="en-US">
                  <a:solidFill>
                    <a:srgbClr val="464646"/>
                  </a:solidFill>
                  <a:latin typeface="Inter" pitchFamily="34" charset="0"/>
                  <a:ea typeface="Inter" pitchFamily="34" charset="-122"/>
                  <a:cs typeface="Inter" pitchFamily="34" charset="-120"/>
                </a:rPr>
                <a:t>, </a:t>
              </a:r>
              <a:r>
                <a:rPr lang="vi-VN">
                  <a:solidFill>
                    <a:srgbClr val="464646"/>
                  </a:solidFill>
                  <a:latin typeface="Inter" pitchFamily="34" charset="0"/>
                  <a:ea typeface="Inter" pitchFamily="34" charset="-122"/>
                  <a:cs typeface="Inter" pitchFamily="34" charset="-120"/>
                </a:rPr>
                <a:t>MEMBER</a:t>
              </a:r>
              <a:r>
                <a:rPr lang="en-US">
                  <a:solidFill>
                    <a:srgbClr val="464646"/>
                  </a:solidFill>
                  <a:latin typeface="Inter" pitchFamily="34" charset="0"/>
                  <a:ea typeface="Inter" pitchFamily="34" charset="-122"/>
                  <a:cs typeface="Inter" pitchFamily="34" charset="-120"/>
                </a:rPr>
                <a:t>)</a:t>
              </a:r>
              <a:endParaRPr lang="vi-VN">
                <a:solidFill>
                  <a:srgbClr val="464646"/>
                </a:solidFill>
                <a:latin typeface="Inter" pitchFamily="34" charset="0"/>
                <a:ea typeface="Inter" pitchFamily="34" charset="-122"/>
                <a:cs typeface="Inter" pitchFamily="34" charset="-120"/>
              </a:endParaRPr>
            </a:p>
          </p:txBody>
        </p:sp>
      </p:grpSp>
      <p:grpSp>
        <p:nvGrpSpPr>
          <p:cNvPr id="17" name="Group 16">
            <a:extLst>
              <a:ext uri="{FF2B5EF4-FFF2-40B4-BE49-F238E27FC236}">
                <a16:creationId xmlns:a16="http://schemas.microsoft.com/office/drawing/2014/main" id="{A4BD58E6-A076-6FD2-A3A6-FD561D1F150B}"/>
              </a:ext>
            </a:extLst>
          </p:cNvPr>
          <p:cNvGrpSpPr/>
          <p:nvPr/>
        </p:nvGrpSpPr>
        <p:grpSpPr>
          <a:xfrm>
            <a:off x="9827070" y="1479005"/>
            <a:ext cx="3664863" cy="6290098"/>
            <a:chOff x="470405" y="2692210"/>
            <a:chExt cx="3664863" cy="6290098"/>
          </a:xfrm>
        </p:grpSpPr>
        <p:sp>
          <p:nvSpPr>
            <p:cNvPr id="18" name="Shape 4">
              <a:extLst>
                <a:ext uri="{FF2B5EF4-FFF2-40B4-BE49-F238E27FC236}">
                  <a16:creationId xmlns:a16="http://schemas.microsoft.com/office/drawing/2014/main" id="{D4E0B776-6FF2-A785-E753-123F9F10F7C7}"/>
                </a:ext>
              </a:extLst>
            </p:cNvPr>
            <p:cNvSpPr/>
            <p:nvPr/>
          </p:nvSpPr>
          <p:spPr>
            <a:xfrm>
              <a:off x="470405" y="2692210"/>
              <a:ext cx="3664863" cy="6290098"/>
            </a:xfrm>
            <a:prstGeom prst="roundRect">
              <a:avLst>
                <a:gd name="adj" fmla="val 8521"/>
              </a:avLst>
            </a:prstGeom>
            <a:solidFill>
              <a:srgbClr val="F2EEEE"/>
            </a:solidFill>
            <a:ln/>
          </p:spPr>
          <p:txBody>
            <a:bodyPr/>
            <a:lstStyle/>
            <a:p>
              <a:endParaRPr lang="en-US"/>
            </a:p>
          </p:txBody>
        </p:sp>
        <p:sp>
          <p:nvSpPr>
            <p:cNvPr id="19" name="Text 5">
              <a:extLst>
                <a:ext uri="{FF2B5EF4-FFF2-40B4-BE49-F238E27FC236}">
                  <a16:creationId xmlns:a16="http://schemas.microsoft.com/office/drawing/2014/main" id="{E8B9A8F0-9D48-CD95-44AC-1B54480D3413}"/>
                </a:ext>
              </a:extLst>
            </p:cNvPr>
            <p:cNvSpPr/>
            <p:nvPr/>
          </p:nvSpPr>
          <p:spPr>
            <a:xfrm>
              <a:off x="697219" y="2823312"/>
              <a:ext cx="3211235" cy="358799"/>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rPr>
                <a:t>Task</a:t>
              </a:r>
              <a:endParaRPr lang="en-US" sz="2400" b="1" dirty="0"/>
            </a:p>
          </p:txBody>
        </p:sp>
        <p:sp>
          <p:nvSpPr>
            <p:cNvPr id="20" name="Text 6">
              <a:extLst>
                <a:ext uri="{FF2B5EF4-FFF2-40B4-BE49-F238E27FC236}">
                  <a16:creationId xmlns:a16="http://schemas.microsoft.com/office/drawing/2014/main" id="{5150AE92-14FE-5453-836D-3CA9DF698F0F}"/>
                </a:ext>
              </a:extLst>
            </p:cNvPr>
            <p:cNvSpPr/>
            <p:nvPr/>
          </p:nvSpPr>
          <p:spPr>
            <a:xfrm>
              <a:off x="470405" y="3277823"/>
              <a:ext cx="3664863" cy="5600360"/>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US">
                  <a:solidFill>
                    <a:srgbClr val="464646"/>
                  </a:solidFill>
                  <a:latin typeface="Inter" pitchFamily="34" charset="0"/>
                  <a:ea typeface="Inter" pitchFamily="34" charset="-122"/>
                  <a:cs typeface="Inter" pitchFamily="34" charset="-120"/>
                </a:rPr>
                <a:t>i</a:t>
              </a:r>
              <a:r>
                <a:rPr lang="vi-VN">
                  <a:solidFill>
                    <a:srgbClr val="464646"/>
                  </a:solidFill>
                  <a:latin typeface="Inter" pitchFamily="34" charset="0"/>
                  <a:ea typeface="Inter" pitchFamily="34" charset="-122"/>
                  <a:cs typeface="Inter" pitchFamily="34" charset="-120"/>
                </a:rPr>
                <a:t>d </a:t>
              </a:r>
              <a:endParaRPr lang="en-US">
                <a:solidFill>
                  <a:srgbClr val="464646"/>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project_id </a:t>
              </a:r>
              <a:endParaRPr lang="en-US">
                <a:solidFill>
                  <a:srgbClr val="464646"/>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parent_id (phân cấp công việc)</a:t>
              </a: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name </a:t>
              </a:r>
              <a:endParaRPr lang="en-US">
                <a:solidFill>
                  <a:srgbClr val="464646"/>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status (TODO, DOING, DONE)</a:t>
              </a: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start_date</a:t>
              </a: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end_date </a:t>
              </a:r>
              <a:endParaRPr lang="en-US">
                <a:solidFill>
                  <a:srgbClr val="464646"/>
                </a:solidFill>
                <a:latin typeface="Inter" pitchFamily="34" charset="0"/>
                <a:ea typeface="Inter" pitchFamily="34" charset="-122"/>
                <a:cs typeface="Inter" pitchFamily="34" charset="-120"/>
              </a:endParaRP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mo, ml, mp (Lạc quan, Khả dĩ, Bi quan)</a:t>
              </a: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est (Kết quả tính Thời gian chuyên gia)</a:t>
              </a: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cost_total (Tổng chi phí ước lượng)</a:t>
              </a:r>
            </a:p>
            <a:p>
              <a:pPr marL="285750" indent="-285750" algn="l">
                <a:lnSpc>
                  <a:spcPts val="2850"/>
                </a:lnSpc>
                <a:buFont typeface="Arial" panose="020B0604020202020204" pitchFamily="34" charset="0"/>
                <a:buChar char="•"/>
              </a:pPr>
              <a:r>
                <a:rPr lang="vi-VN">
                  <a:solidFill>
                    <a:srgbClr val="464646"/>
                  </a:solidFill>
                  <a:latin typeface="Inter" pitchFamily="34" charset="0"/>
                  <a:ea typeface="Inter" pitchFamily="34" charset="-122"/>
                  <a:cs typeface="Inter" pitchFamily="34" charset="-120"/>
                </a:rPr>
                <a:t>owner_id (Công việc này do ai làm)</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054F9-94F2-7DCE-A07B-8D3732C08398}"/>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52AB351C-3201-972F-BAB6-ECC556412F26}"/>
              </a:ext>
            </a:extLst>
          </p:cNvPr>
          <p:cNvPicPr>
            <a:picLocks noChangeAspect="1"/>
          </p:cNvPicPr>
          <p:nvPr/>
        </p:nvPicPr>
        <p:blipFill>
          <a:blip r:embed="rId3"/>
          <a:srcRect l="13558" r="11010"/>
          <a:stretch>
            <a:fillRect/>
          </a:stretch>
        </p:blipFill>
        <p:spPr>
          <a:xfrm>
            <a:off x="3953532" y="1838748"/>
            <a:ext cx="6959449" cy="5626924"/>
          </a:xfrm>
          <a:prstGeom prst="rect">
            <a:avLst/>
          </a:prstGeom>
        </p:spPr>
      </p:pic>
      <p:sp>
        <p:nvSpPr>
          <p:cNvPr id="6" name="Text 0">
            <a:extLst>
              <a:ext uri="{FF2B5EF4-FFF2-40B4-BE49-F238E27FC236}">
                <a16:creationId xmlns:a16="http://schemas.microsoft.com/office/drawing/2014/main" id="{6FC33140-B09C-967C-E460-A21796BB06E7}"/>
              </a:ext>
            </a:extLst>
          </p:cNvPr>
          <p:cNvSpPr/>
          <p:nvPr/>
        </p:nvSpPr>
        <p:spPr>
          <a:xfrm>
            <a:off x="291986" y="265884"/>
            <a:ext cx="7023214" cy="766680"/>
          </a:xfrm>
          <a:prstGeom prst="rect">
            <a:avLst/>
          </a:prstGeom>
          <a:noFill/>
          <a:ln/>
        </p:spPr>
        <p:txBody>
          <a:bodyPr wrap="square" lIns="0" tIns="0" rIns="0" bIns="0" rtlCol="0" anchor="t"/>
          <a:lstStyle/>
          <a:p>
            <a:pPr marL="0" indent="0" algn="l">
              <a:lnSpc>
                <a:spcPts val="5550"/>
              </a:lnSpc>
              <a:buNone/>
            </a:pPr>
            <a:r>
              <a:rPr lang="en-US" sz="4450">
                <a:solidFill>
                  <a:srgbClr val="030303"/>
                </a:solidFill>
                <a:latin typeface="Inter Semi Bold" pitchFamily="34" charset="0"/>
                <a:ea typeface="Inter Semi Bold" pitchFamily="34" charset="-122"/>
                <a:cs typeface="Inter Semi Bold" pitchFamily="34" charset="-120"/>
              </a:rPr>
              <a:t>3: Chức năng và giao diện </a:t>
            </a:r>
            <a:endParaRPr lang="en-US" sz="4450" dirty="0"/>
          </a:p>
        </p:txBody>
      </p:sp>
      <p:sp>
        <p:nvSpPr>
          <p:cNvPr id="9" name="Text 0">
            <a:extLst>
              <a:ext uri="{FF2B5EF4-FFF2-40B4-BE49-F238E27FC236}">
                <a16:creationId xmlns:a16="http://schemas.microsoft.com/office/drawing/2014/main" id="{4C0F9F89-5D82-8C78-377D-C7A7975ACF46}"/>
              </a:ext>
            </a:extLst>
          </p:cNvPr>
          <p:cNvSpPr/>
          <p:nvPr/>
        </p:nvSpPr>
        <p:spPr>
          <a:xfrm>
            <a:off x="793790" y="1152168"/>
            <a:ext cx="7155656" cy="566976"/>
          </a:xfrm>
          <a:prstGeom prst="rect">
            <a:avLst/>
          </a:prstGeom>
          <a:noFill/>
          <a:ln/>
        </p:spPr>
        <p:txBody>
          <a:bodyPr wrap="none" lIns="0" tIns="0" rIns="0" bIns="0" rtlCol="0" anchor="t"/>
          <a:lstStyle/>
          <a:p>
            <a:pPr marL="0" indent="0" algn="l">
              <a:lnSpc>
                <a:spcPts val="4450"/>
              </a:lnSpc>
              <a:buNone/>
            </a:pPr>
            <a:r>
              <a:rPr lang="en-US" sz="3550">
                <a:solidFill>
                  <a:srgbClr val="030303"/>
                </a:solidFill>
                <a:latin typeface="Inter Semi Bold" pitchFamily="34" charset="0"/>
                <a:ea typeface="Inter Semi Bold" pitchFamily="34" charset="-122"/>
                <a:cs typeface="Inter Semi Bold" pitchFamily="34" charset="-120"/>
              </a:rPr>
              <a:t>3.1 Cơ chế tham gia dự án, tạo dự án</a:t>
            </a:r>
            <a:endParaRPr lang="en-US" sz="3550" dirty="0"/>
          </a:p>
        </p:txBody>
      </p:sp>
      <p:sp>
        <p:nvSpPr>
          <p:cNvPr id="10" name="Shape 4">
            <a:extLst>
              <a:ext uri="{FF2B5EF4-FFF2-40B4-BE49-F238E27FC236}">
                <a16:creationId xmlns:a16="http://schemas.microsoft.com/office/drawing/2014/main" id="{A49A6C6E-8534-7F89-E86C-BDCA80AE3606}"/>
              </a:ext>
            </a:extLst>
          </p:cNvPr>
          <p:cNvSpPr/>
          <p:nvPr/>
        </p:nvSpPr>
        <p:spPr>
          <a:xfrm>
            <a:off x="291986" y="3404449"/>
            <a:ext cx="3351745" cy="2395657"/>
          </a:xfrm>
          <a:prstGeom prst="roundRect">
            <a:avLst>
              <a:gd name="adj" fmla="val 8521"/>
            </a:avLst>
          </a:prstGeom>
          <a:solidFill>
            <a:srgbClr val="F2EEEE"/>
          </a:solidFill>
          <a:ln/>
        </p:spPr>
        <p:txBody>
          <a:bodyPr/>
          <a:lstStyle/>
          <a:p>
            <a:endParaRPr lang="en-US"/>
          </a:p>
        </p:txBody>
      </p:sp>
      <p:sp>
        <p:nvSpPr>
          <p:cNvPr id="11" name="Text 5">
            <a:extLst>
              <a:ext uri="{FF2B5EF4-FFF2-40B4-BE49-F238E27FC236}">
                <a16:creationId xmlns:a16="http://schemas.microsoft.com/office/drawing/2014/main" id="{BD9743F6-B15B-98B5-9B2A-F0E39F5F5E84}"/>
              </a:ext>
            </a:extLst>
          </p:cNvPr>
          <p:cNvSpPr/>
          <p:nvPr/>
        </p:nvSpPr>
        <p:spPr>
          <a:xfrm>
            <a:off x="518800" y="3631263"/>
            <a:ext cx="2835235"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cs typeface="Inter Semi Bold" pitchFamily="34" charset="-120"/>
              </a:rPr>
              <a:t>Tham gia vào dự án</a:t>
            </a:r>
            <a:endParaRPr lang="en-US" sz="2400" b="1" dirty="0"/>
          </a:p>
        </p:txBody>
      </p:sp>
      <p:sp>
        <p:nvSpPr>
          <p:cNvPr id="12" name="Text 6">
            <a:extLst>
              <a:ext uri="{FF2B5EF4-FFF2-40B4-BE49-F238E27FC236}">
                <a16:creationId xmlns:a16="http://schemas.microsoft.com/office/drawing/2014/main" id="{BF1A08B4-E69D-62B2-DE40-136FEA0038FC}"/>
              </a:ext>
            </a:extLst>
          </p:cNvPr>
          <p:cNvSpPr/>
          <p:nvPr/>
        </p:nvSpPr>
        <p:spPr>
          <a:xfrm>
            <a:off x="518800" y="4121682"/>
            <a:ext cx="2835235" cy="1549216"/>
          </a:xfrm>
          <a:prstGeom prst="rect">
            <a:avLst/>
          </a:prstGeom>
          <a:noFill/>
          <a:ln/>
        </p:spPr>
        <p:txBody>
          <a:bodyPr wrap="square" lIns="0" tIns="0" rIns="0" bIns="0" rtlCol="0" anchor="t"/>
          <a:lstStyle/>
          <a:p>
            <a:pPr marL="0" indent="0" algn="ctr">
              <a:lnSpc>
                <a:spcPts val="2850"/>
              </a:lnSpc>
              <a:buNone/>
            </a:pPr>
            <a:r>
              <a:rPr lang="vi-VN" sz="1750">
                <a:solidFill>
                  <a:srgbClr val="464646"/>
                </a:solidFill>
                <a:latin typeface="Inter" pitchFamily="34" charset="0"/>
                <a:ea typeface="Inter" pitchFamily="34" charset="-122"/>
                <a:cs typeface="Inter" pitchFamily="34" charset="-120"/>
              </a:rPr>
              <a:t>Người dùng join dự án thông qua Mã bí mật (Project Code) do PM của dự án đó cung cấp</a:t>
            </a:r>
            <a:endParaRPr lang="en-US" sz="1750" dirty="0"/>
          </a:p>
        </p:txBody>
      </p:sp>
      <p:sp>
        <p:nvSpPr>
          <p:cNvPr id="15" name="Shape 4">
            <a:extLst>
              <a:ext uri="{FF2B5EF4-FFF2-40B4-BE49-F238E27FC236}">
                <a16:creationId xmlns:a16="http://schemas.microsoft.com/office/drawing/2014/main" id="{39A58FB2-112A-16B0-5D3F-6A3B793E2E51}"/>
              </a:ext>
            </a:extLst>
          </p:cNvPr>
          <p:cNvSpPr/>
          <p:nvPr/>
        </p:nvSpPr>
        <p:spPr>
          <a:xfrm>
            <a:off x="10736574" y="3404449"/>
            <a:ext cx="3664863" cy="2395657"/>
          </a:xfrm>
          <a:prstGeom prst="roundRect">
            <a:avLst>
              <a:gd name="adj" fmla="val 8521"/>
            </a:avLst>
          </a:prstGeom>
          <a:solidFill>
            <a:srgbClr val="F2EEEE"/>
          </a:solidFill>
          <a:ln/>
        </p:spPr>
        <p:txBody>
          <a:bodyPr/>
          <a:lstStyle/>
          <a:p>
            <a:endParaRPr lang="en-US"/>
          </a:p>
        </p:txBody>
      </p:sp>
      <p:sp>
        <p:nvSpPr>
          <p:cNvPr id="16" name="Text 5">
            <a:extLst>
              <a:ext uri="{FF2B5EF4-FFF2-40B4-BE49-F238E27FC236}">
                <a16:creationId xmlns:a16="http://schemas.microsoft.com/office/drawing/2014/main" id="{5E0768B1-5C65-FE1B-281C-42CDFABD1C4B}"/>
              </a:ext>
            </a:extLst>
          </p:cNvPr>
          <p:cNvSpPr/>
          <p:nvPr/>
        </p:nvSpPr>
        <p:spPr>
          <a:xfrm>
            <a:off x="10963388" y="3631263"/>
            <a:ext cx="2835235"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cs typeface="Inter Semi Bold" pitchFamily="34" charset="-120"/>
              </a:rPr>
              <a:t>Tạo dự án</a:t>
            </a:r>
            <a:endParaRPr lang="en-US" sz="2400" b="1" dirty="0"/>
          </a:p>
        </p:txBody>
      </p:sp>
      <p:sp>
        <p:nvSpPr>
          <p:cNvPr id="17" name="Text 6">
            <a:extLst>
              <a:ext uri="{FF2B5EF4-FFF2-40B4-BE49-F238E27FC236}">
                <a16:creationId xmlns:a16="http://schemas.microsoft.com/office/drawing/2014/main" id="{837A7FDB-752D-B390-25EF-5F5AFCE9E738}"/>
              </a:ext>
            </a:extLst>
          </p:cNvPr>
          <p:cNvSpPr/>
          <p:nvPr/>
        </p:nvSpPr>
        <p:spPr>
          <a:xfrm>
            <a:off x="10963388" y="4121682"/>
            <a:ext cx="3211235" cy="1088708"/>
          </a:xfrm>
          <a:prstGeom prst="rect">
            <a:avLst/>
          </a:prstGeom>
          <a:noFill/>
          <a:ln/>
        </p:spPr>
        <p:txBody>
          <a:bodyPr wrap="square" lIns="0" tIns="0" rIns="0" bIns="0" rtlCol="0" anchor="t"/>
          <a:lstStyle/>
          <a:p>
            <a:pPr marL="0" indent="0" algn="ctr">
              <a:lnSpc>
                <a:spcPts val="2850"/>
              </a:lnSpc>
              <a:buNone/>
            </a:pPr>
            <a:r>
              <a:rPr lang="en-US" sz="1750">
                <a:solidFill>
                  <a:srgbClr val="464646"/>
                </a:solidFill>
                <a:latin typeface="Inter" pitchFamily="34" charset="0"/>
                <a:ea typeface="Inter" pitchFamily="34" charset="-122"/>
                <a:cs typeface="Inter" pitchFamily="34" charset="-120"/>
              </a:rPr>
              <a:t>Khi tạo dự án thì ngưới sử dụng sẽ trở thành quản lý dự án (PM).</a:t>
            </a:r>
            <a:endParaRPr lang="en-US" sz="1750" dirty="0"/>
          </a:p>
        </p:txBody>
      </p:sp>
      <p:pic>
        <p:nvPicPr>
          <p:cNvPr id="2" name="Picture 1">
            <a:extLst>
              <a:ext uri="{FF2B5EF4-FFF2-40B4-BE49-F238E27FC236}">
                <a16:creationId xmlns:a16="http://schemas.microsoft.com/office/drawing/2014/main" id="{A539C8D8-3A65-0C37-71C2-A63511D1008A}"/>
              </a:ext>
            </a:extLst>
          </p:cNvPr>
          <p:cNvPicPr>
            <a:picLocks noChangeAspect="1"/>
          </p:cNvPicPr>
          <p:nvPr/>
        </p:nvPicPr>
        <p:blipFill>
          <a:blip r:embed="rId4"/>
          <a:stretch>
            <a:fillRect/>
          </a:stretch>
        </p:blipFill>
        <p:spPr>
          <a:xfrm>
            <a:off x="12812961" y="7617505"/>
            <a:ext cx="1817439" cy="703535"/>
          </a:xfrm>
          <a:prstGeom prst="rect">
            <a:avLst/>
          </a:prstGeom>
        </p:spPr>
      </p:pic>
    </p:spTree>
    <p:extLst>
      <p:ext uri="{BB962C8B-B14F-4D97-AF65-F5344CB8AC3E}">
        <p14:creationId xmlns:p14="http://schemas.microsoft.com/office/powerpoint/2010/main" val="2273893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3C89F-E0C8-01D4-7180-62047669FD36}"/>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8B93E46A-3B53-55F7-6B10-C7F8C1723D8E}"/>
              </a:ext>
            </a:extLst>
          </p:cNvPr>
          <p:cNvSpPr/>
          <p:nvPr/>
        </p:nvSpPr>
        <p:spPr>
          <a:xfrm>
            <a:off x="277600" y="295641"/>
            <a:ext cx="7155656" cy="566976"/>
          </a:xfrm>
          <a:prstGeom prst="rect">
            <a:avLst/>
          </a:prstGeom>
          <a:noFill/>
          <a:ln/>
        </p:spPr>
        <p:txBody>
          <a:bodyPr wrap="none" lIns="0" tIns="0" rIns="0" bIns="0" rtlCol="0" anchor="t"/>
          <a:lstStyle/>
          <a:p>
            <a:pPr marL="0" indent="0" algn="l">
              <a:lnSpc>
                <a:spcPts val="4450"/>
              </a:lnSpc>
              <a:buNone/>
            </a:pPr>
            <a:r>
              <a:rPr lang="en-US" sz="3550">
                <a:solidFill>
                  <a:srgbClr val="030303"/>
                </a:solidFill>
                <a:latin typeface="Inter Semi Bold" pitchFamily="34" charset="0"/>
                <a:ea typeface="Inter Semi Bold" pitchFamily="34" charset="-122"/>
                <a:cs typeface="Inter Semi Bold" pitchFamily="34" charset="-120"/>
              </a:rPr>
              <a:t>3.2 Phân quyền </a:t>
            </a:r>
            <a:endParaRPr lang="en-US" sz="3550" dirty="0"/>
          </a:p>
        </p:txBody>
      </p:sp>
      <p:sp>
        <p:nvSpPr>
          <p:cNvPr id="10" name="Shape 4">
            <a:extLst>
              <a:ext uri="{FF2B5EF4-FFF2-40B4-BE49-F238E27FC236}">
                <a16:creationId xmlns:a16="http://schemas.microsoft.com/office/drawing/2014/main" id="{012830A9-9174-4DE3-19A8-87D98B005BD4}"/>
              </a:ext>
            </a:extLst>
          </p:cNvPr>
          <p:cNvSpPr/>
          <p:nvPr/>
        </p:nvSpPr>
        <p:spPr>
          <a:xfrm>
            <a:off x="2097637" y="3985593"/>
            <a:ext cx="3351745" cy="2831896"/>
          </a:xfrm>
          <a:prstGeom prst="roundRect">
            <a:avLst>
              <a:gd name="adj" fmla="val 8521"/>
            </a:avLst>
          </a:prstGeom>
          <a:solidFill>
            <a:srgbClr val="F2EEEE"/>
          </a:solidFill>
          <a:ln/>
        </p:spPr>
        <p:txBody>
          <a:bodyPr/>
          <a:lstStyle/>
          <a:p>
            <a:endParaRPr lang="en-US"/>
          </a:p>
        </p:txBody>
      </p:sp>
      <p:sp>
        <p:nvSpPr>
          <p:cNvPr id="11" name="Text 5">
            <a:extLst>
              <a:ext uri="{FF2B5EF4-FFF2-40B4-BE49-F238E27FC236}">
                <a16:creationId xmlns:a16="http://schemas.microsoft.com/office/drawing/2014/main" id="{D9C9CA89-8460-1127-7F08-6E098A54E16C}"/>
              </a:ext>
            </a:extLst>
          </p:cNvPr>
          <p:cNvSpPr/>
          <p:nvPr/>
        </p:nvSpPr>
        <p:spPr>
          <a:xfrm>
            <a:off x="2324451" y="4212407"/>
            <a:ext cx="2835235"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cs typeface="Inter Semi Bold" pitchFamily="34" charset="-120"/>
              </a:rPr>
              <a:t>Project Manager</a:t>
            </a:r>
            <a:endParaRPr lang="en-US" sz="2400" b="1" dirty="0"/>
          </a:p>
        </p:txBody>
      </p:sp>
      <p:sp>
        <p:nvSpPr>
          <p:cNvPr id="12" name="Text 6">
            <a:extLst>
              <a:ext uri="{FF2B5EF4-FFF2-40B4-BE49-F238E27FC236}">
                <a16:creationId xmlns:a16="http://schemas.microsoft.com/office/drawing/2014/main" id="{4A6C4405-7D4C-1A46-EAD0-0AF9093D86E1}"/>
              </a:ext>
            </a:extLst>
          </p:cNvPr>
          <p:cNvSpPr/>
          <p:nvPr/>
        </p:nvSpPr>
        <p:spPr>
          <a:xfrm>
            <a:off x="2324451" y="4702826"/>
            <a:ext cx="2835235" cy="1549216"/>
          </a:xfrm>
          <a:prstGeom prst="rect">
            <a:avLst/>
          </a:prstGeom>
          <a:noFill/>
          <a:ln/>
        </p:spPr>
        <p:txBody>
          <a:bodyPr wrap="square" lIns="0" tIns="0" rIns="0" bIns="0" rtlCol="0" anchor="t"/>
          <a:lstStyle/>
          <a:p>
            <a:pPr marL="0" indent="0" algn="ctr">
              <a:lnSpc>
                <a:spcPts val="2850"/>
              </a:lnSpc>
              <a:buNone/>
            </a:pPr>
            <a:r>
              <a:rPr lang="vi-VN" sz="1750">
                <a:solidFill>
                  <a:srgbClr val="464646"/>
                </a:solidFill>
                <a:latin typeface="Inter" pitchFamily="34" charset="0"/>
                <a:ea typeface="Inter" pitchFamily="34" charset="-122"/>
                <a:cs typeface="Inter" pitchFamily="34" charset="-120"/>
              </a:rPr>
              <a:t>Quản trị cao nhất, có quyền chỉnh sửa các thông số trong các bảng quản lý: công việc, thời gian, chi phí</a:t>
            </a:r>
            <a:endParaRPr lang="en-US" sz="1750" dirty="0"/>
          </a:p>
        </p:txBody>
      </p:sp>
      <p:sp>
        <p:nvSpPr>
          <p:cNvPr id="15" name="Shape 4">
            <a:extLst>
              <a:ext uri="{FF2B5EF4-FFF2-40B4-BE49-F238E27FC236}">
                <a16:creationId xmlns:a16="http://schemas.microsoft.com/office/drawing/2014/main" id="{E317B6D6-40EF-C898-F116-4742F38055ED}"/>
              </a:ext>
            </a:extLst>
          </p:cNvPr>
          <p:cNvSpPr/>
          <p:nvPr/>
        </p:nvSpPr>
        <p:spPr>
          <a:xfrm>
            <a:off x="6465516" y="3985593"/>
            <a:ext cx="4576732" cy="2831896"/>
          </a:xfrm>
          <a:prstGeom prst="roundRect">
            <a:avLst>
              <a:gd name="adj" fmla="val 8521"/>
            </a:avLst>
          </a:prstGeom>
          <a:solidFill>
            <a:srgbClr val="F2EEEE"/>
          </a:solidFill>
          <a:ln/>
        </p:spPr>
        <p:txBody>
          <a:bodyPr/>
          <a:lstStyle/>
          <a:p>
            <a:endParaRPr lang="en-US"/>
          </a:p>
        </p:txBody>
      </p:sp>
      <p:sp>
        <p:nvSpPr>
          <p:cNvPr id="16" name="Text 5">
            <a:extLst>
              <a:ext uri="{FF2B5EF4-FFF2-40B4-BE49-F238E27FC236}">
                <a16:creationId xmlns:a16="http://schemas.microsoft.com/office/drawing/2014/main" id="{D5B26CED-3283-2009-1E53-1CC2431D6AB4}"/>
              </a:ext>
            </a:extLst>
          </p:cNvPr>
          <p:cNvSpPr/>
          <p:nvPr/>
        </p:nvSpPr>
        <p:spPr>
          <a:xfrm>
            <a:off x="6692330" y="4212407"/>
            <a:ext cx="4095275"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rPr>
              <a:t>Member</a:t>
            </a:r>
            <a:endParaRPr lang="en-US" sz="2400" b="1" dirty="0"/>
          </a:p>
        </p:txBody>
      </p:sp>
      <p:sp>
        <p:nvSpPr>
          <p:cNvPr id="17" name="Text 6">
            <a:extLst>
              <a:ext uri="{FF2B5EF4-FFF2-40B4-BE49-F238E27FC236}">
                <a16:creationId xmlns:a16="http://schemas.microsoft.com/office/drawing/2014/main" id="{170AEAA4-A96E-73A4-0502-870EF5F78975}"/>
              </a:ext>
            </a:extLst>
          </p:cNvPr>
          <p:cNvSpPr/>
          <p:nvPr/>
        </p:nvSpPr>
        <p:spPr>
          <a:xfrm>
            <a:off x="6692330" y="4702826"/>
            <a:ext cx="3956379" cy="1088708"/>
          </a:xfrm>
          <a:prstGeom prst="rect">
            <a:avLst/>
          </a:prstGeom>
          <a:noFill/>
          <a:ln/>
        </p:spPr>
        <p:txBody>
          <a:bodyPr wrap="square" lIns="0" tIns="0" rIns="0" bIns="0" rtlCol="0" anchor="t"/>
          <a:lstStyle/>
          <a:p>
            <a:pPr marL="0" indent="0" algn="ctr">
              <a:lnSpc>
                <a:spcPts val="2850"/>
              </a:lnSpc>
              <a:buNone/>
            </a:pPr>
            <a:r>
              <a:rPr lang="vi-VN" sz="1750">
                <a:solidFill>
                  <a:srgbClr val="464646"/>
                </a:solidFill>
                <a:latin typeface="Inter" pitchFamily="34" charset="0"/>
                <a:ea typeface="Inter" pitchFamily="34" charset="-122"/>
                <a:cs typeface="Inter" pitchFamily="34" charset="-120"/>
              </a:rPr>
              <a:t>Thành viên, chỉ được phép quyền  xem ở các bảng quản lý: công việc, thời gian, chi phí. Tuy nhiên ở bảng Kanban thì member được phép cập nhật trạng thái công việc</a:t>
            </a:r>
            <a:endParaRPr lang="en-US" sz="1750" dirty="0"/>
          </a:p>
        </p:txBody>
      </p:sp>
      <p:pic>
        <p:nvPicPr>
          <p:cNvPr id="3" name="Picture 2">
            <a:extLst>
              <a:ext uri="{FF2B5EF4-FFF2-40B4-BE49-F238E27FC236}">
                <a16:creationId xmlns:a16="http://schemas.microsoft.com/office/drawing/2014/main" id="{4E5FFED6-4486-0CE3-F264-98A270E109F1}"/>
              </a:ext>
            </a:extLst>
          </p:cNvPr>
          <p:cNvPicPr>
            <a:picLocks noChangeAspect="1"/>
          </p:cNvPicPr>
          <p:nvPr/>
        </p:nvPicPr>
        <p:blipFill>
          <a:blip r:embed="rId3"/>
          <a:srcRect b="18178"/>
          <a:stretch>
            <a:fillRect/>
          </a:stretch>
        </p:blipFill>
        <p:spPr>
          <a:xfrm>
            <a:off x="2394946" y="1816900"/>
            <a:ext cx="8975867" cy="1013003"/>
          </a:xfrm>
          <a:prstGeom prst="rect">
            <a:avLst/>
          </a:prstGeom>
        </p:spPr>
      </p:pic>
      <p:pic>
        <p:nvPicPr>
          <p:cNvPr id="2" name="Picture 1">
            <a:extLst>
              <a:ext uri="{FF2B5EF4-FFF2-40B4-BE49-F238E27FC236}">
                <a16:creationId xmlns:a16="http://schemas.microsoft.com/office/drawing/2014/main" id="{3F0856C9-FC8D-9F6E-EB68-4915F883EEA0}"/>
              </a:ext>
            </a:extLst>
          </p:cNvPr>
          <p:cNvPicPr>
            <a:picLocks noChangeAspect="1"/>
          </p:cNvPicPr>
          <p:nvPr/>
        </p:nvPicPr>
        <p:blipFill>
          <a:blip r:embed="rId4"/>
          <a:stretch>
            <a:fillRect/>
          </a:stretch>
        </p:blipFill>
        <p:spPr>
          <a:xfrm>
            <a:off x="12812961" y="7617505"/>
            <a:ext cx="1817439" cy="703535"/>
          </a:xfrm>
          <a:prstGeom prst="rect">
            <a:avLst/>
          </a:prstGeom>
        </p:spPr>
      </p:pic>
    </p:spTree>
    <p:extLst>
      <p:ext uri="{BB962C8B-B14F-4D97-AF65-F5344CB8AC3E}">
        <p14:creationId xmlns:p14="http://schemas.microsoft.com/office/powerpoint/2010/main" val="3669834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015E-C3FE-5D40-6207-ABF0F7E26A4B}"/>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92E18B0F-C76F-FF8D-AF85-AB2E1F9CF0C8}"/>
              </a:ext>
            </a:extLst>
          </p:cNvPr>
          <p:cNvSpPr/>
          <p:nvPr/>
        </p:nvSpPr>
        <p:spPr>
          <a:xfrm>
            <a:off x="277600" y="295641"/>
            <a:ext cx="14121306" cy="566976"/>
          </a:xfrm>
          <a:prstGeom prst="rect">
            <a:avLst/>
          </a:prstGeom>
          <a:noFill/>
          <a:ln/>
        </p:spPr>
        <p:txBody>
          <a:bodyPr wrap="none" lIns="0" tIns="0" rIns="0" bIns="0" rtlCol="0" anchor="t"/>
          <a:lstStyle/>
          <a:p>
            <a:pPr marL="0" indent="0" algn="ctr">
              <a:lnSpc>
                <a:spcPts val="4450"/>
              </a:lnSpc>
              <a:buNone/>
            </a:pPr>
            <a:r>
              <a:rPr lang="en-US" sz="3550">
                <a:solidFill>
                  <a:srgbClr val="030303"/>
                </a:solidFill>
                <a:latin typeface="Inter Semi Bold" pitchFamily="34" charset="0"/>
                <a:ea typeface="Inter Semi Bold" pitchFamily="34" charset="-122"/>
                <a:cs typeface="Inter Semi Bold" pitchFamily="34" charset="-120"/>
              </a:rPr>
              <a:t>3.3 WBS – Quản lý công việc (Work Breakdown Structure) </a:t>
            </a:r>
            <a:endParaRPr lang="en-US" sz="3550" dirty="0"/>
          </a:p>
        </p:txBody>
      </p:sp>
      <p:grpSp>
        <p:nvGrpSpPr>
          <p:cNvPr id="5" name="Group 4">
            <a:extLst>
              <a:ext uri="{FF2B5EF4-FFF2-40B4-BE49-F238E27FC236}">
                <a16:creationId xmlns:a16="http://schemas.microsoft.com/office/drawing/2014/main" id="{663C0A33-9C5E-9725-D846-1E6C2AE0F9CB}"/>
              </a:ext>
            </a:extLst>
          </p:cNvPr>
          <p:cNvGrpSpPr/>
          <p:nvPr/>
        </p:nvGrpSpPr>
        <p:grpSpPr>
          <a:xfrm>
            <a:off x="462795" y="1348107"/>
            <a:ext cx="13936111" cy="1203767"/>
            <a:chOff x="416688" y="1134319"/>
            <a:chExt cx="13936111" cy="1203767"/>
          </a:xfrm>
        </p:grpSpPr>
        <p:sp>
          <p:nvSpPr>
            <p:cNvPr id="15" name="Shape 4">
              <a:extLst>
                <a:ext uri="{FF2B5EF4-FFF2-40B4-BE49-F238E27FC236}">
                  <a16:creationId xmlns:a16="http://schemas.microsoft.com/office/drawing/2014/main" id="{5759966C-8094-E02B-CC67-70FA2378DA7D}"/>
                </a:ext>
              </a:extLst>
            </p:cNvPr>
            <p:cNvSpPr/>
            <p:nvPr/>
          </p:nvSpPr>
          <p:spPr>
            <a:xfrm>
              <a:off x="416688" y="1134319"/>
              <a:ext cx="13936111" cy="1203767"/>
            </a:xfrm>
            <a:prstGeom prst="roundRect">
              <a:avLst>
                <a:gd name="adj" fmla="val 22944"/>
              </a:avLst>
            </a:prstGeom>
            <a:solidFill>
              <a:srgbClr val="F2EEEE"/>
            </a:solidFill>
            <a:ln/>
          </p:spPr>
          <p:txBody>
            <a:bodyPr/>
            <a:lstStyle/>
            <a:p>
              <a:endParaRPr lang="en-US"/>
            </a:p>
          </p:txBody>
        </p:sp>
        <p:sp>
          <p:nvSpPr>
            <p:cNvPr id="17" name="Text 6">
              <a:extLst>
                <a:ext uri="{FF2B5EF4-FFF2-40B4-BE49-F238E27FC236}">
                  <a16:creationId xmlns:a16="http://schemas.microsoft.com/office/drawing/2014/main" id="{DC633273-DC14-37D2-5321-0361FC805CE3}"/>
                </a:ext>
              </a:extLst>
            </p:cNvPr>
            <p:cNvSpPr/>
            <p:nvPr/>
          </p:nvSpPr>
          <p:spPr>
            <a:xfrm>
              <a:off x="717630" y="1371256"/>
              <a:ext cx="13391909" cy="804785"/>
            </a:xfrm>
            <a:prstGeom prst="rect">
              <a:avLst/>
            </a:prstGeom>
            <a:noFill/>
            <a:ln/>
          </p:spPr>
          <p:txBody>
            <a:bodyPr wrap="square" lIns="0" tIns="0" rIns="0" bIns="0" rtlCol="0" anchor="t"/>
            <a:lstStyle/>
            <a:p>
              <a:pPr marL="0" indent="0" algn="ctr">
                <a:lnSpc>
                  <a:spcPts val="2850"/>
                </a:lnSpc>
                <a:buNone/>
              </a:pPr>
              <a:r>
                <a:rPr lang="vi-VN">
                  <a:solidFill>
                    <a:srgbClr val="464646"/>
                  </a:solidFill>
                  <a:latin typeface="Inter" pitchFamily="34" charset="0"/>
                  <a:ea typeface="Inter" pitchFamily="34" charset="-122"/>
                  <a:cs typeface="Inter" pitchFamily="34" charset="-120"/>
                </a:rPr>
                <a:t>Quản lý dự án có bao nhiêu công việc và có những công việc nào. Hỗ trợ hiển thị công việc theo dạng cha – con, thêm, sửa xóa công việc con – cha. </a:t>
              </a:r>
              <a:endParaRPr lang="en-US" dirty="0"/>
            </a:p>
          </p:txBody>
        </p:sp>
      </p:grpSp>
      <p:pic>
        <p:nvPicPr>
          <p:cNvPr id="4" name="Picture 3">
            <a:extLst>
              <a:ext uri="{FF2B5EF4-FFF2-40B4-BE49-F238E27FC236}">
                <a16:creationId xmlns:a16="http://schemas.microsoft.com/office/drawing/2014/main" id="{F3DBF613-49E6-42F3-3116-007CE7E67C0A}"/>
              </a:ext>
            </a:extLst>
          </p:cNvPr>
          <p:cNvPicPr>
            <a:picLocks noChangeAspect="1"/>
          </p:cNvPicPr>
          <p:nvPr/>
        </p:nvPicPr>
        <p:blipFill>
          <a:blip r:embed="rId3"/>
          <a:stretch>
            <a:fillRect/>
          </a:stretch>
        </p:blipFill>
        <p:spPr>
          <a:xfrm>
            <a:off x="2134040" y="2941682"/>
            <a:ext cx="10593619" cy="4864018"/>
          </a:xfrm>
          <a:prstGeom prst="rect">
            <a:avLst/>
          </a:prstGeom>
        </p:spPr>
      </p:pic>
      <p:pic>
        <p:nvPicPr>
          <p:cNvPr id="2" name="Picture 1">
            <a:extLst>
              <a:ext uri="{FF2B5EF4-FFF2-40B4-BE49-F238E27FC236}">
                <a16:creationId xmlns:a16="http://schemas.microsoft.com/office/drawing/2014/main" id="{B5031F0D-8077-B268-C766-2871B1F2C8F3}"/>
              </a:ext>
            </a:extLst>
          </p:cNvPr>
          <p:cNvPicPr>
            <a:picLocks noChangeAspect="1"/>
          </p:cNvPicPr>
          <p:nvPr/>
        </p:nvPicPr>
        <p:blipFill>
          <a:blip r:embed="rId4"/>
          <a:stretch>
            <a:fillRect/>
          </a:stretch>
        </p:blipFill>
        <p:spPr>
          <a:xfrm>
            <a:off x="12812961" y="7617505"/>
            <a:ext cx="1817439" cy="703535"/>
          </a:xfrm>
          <a:prstGeom prst="rect">
            <a:avLst/>
          </a:prstGeom>
        </p:spPr>
      </p:pic>
    </p:spTree>
    <p:extLst>
      <p:ext uri="{BB962C8B-B14F-4D97-AF65-F5344CB8AC3E}">
        <p14:creationId xmlns:p14="http://schemas.microsoft.com/office/powerpoint/2010/main" val="3115691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09395-1437-2E2A-97CF-F4E2138C00B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5606990-ECF9-60B7-0A98-7463BA74DBD7}"/>
              </a:ext>
            </a:extLst>
          </p:cNvPr>
          <p:cNvPicPr>
            <a:picLocks noChangeAspect="1"/>
          </p:cNvPicPr>
          <p:nvPr/>
        </p:nvPicPr>
        <p:blipFill>
          <a:blip r:embed="rId3"/>
          <a:stretch>
            <a:fillRect/>
          </a:stretch>
        </p:blipFill>
        <p:spPr>
          <a:xfrm>
            <a:off x="12812961" y="7617505"/>
            <a:ext cx="1817439" cy="703535"/>
          </a:xfrm>
          <a:prstGeom prst="rect">
            <a:avLst/>
          </a:prstGeom>
        </p:spPr>
      </p:pic>
      <p:sp>
        <p:nvSpPr>
          <p:cNvPr id="9" name="Text 0">
            <a:extLst>
              <a:ext uri="{FF2B5EF4-FFF2-40B4-BE49-F238E27FC236}">
                <a16:creationId xmlns:a16="http://schemas.microsoft.com/office/drawing/2014/main" id="{40B6308A-436B-9981-C1B9-251944FF0B17}"/>
              </a:ext>
            </a:extLst>
          </p:cNvPr>
          <p:cNvSpPr/>
          <p:nvPr/>
        </p:nvSpPr>
        <p:spPr>
          <a:xfrm>
            <a:off x="277600" y="295641"/>
            <a:ext cx="14121306" cy="566976"/>
          </a:xfrm>
          <a:prstGeom prst="rect">
            <a:avLst/>
          </a:prstGeom>
          <a:noFill/>
          <a:ln/>
        </p:spPr>
        <p:txBody>
          <a:bodyPr wrap="none" lIns="0" tIns="0" rIns="0" bIns="0" rtlCol="0" anchor="t"/>
          <a:lstStyle/>
          <a:p>
            <a:pPr marL="0" indent="0" algn="ctr">
              <a:lnSpc>
                <a:spcPts val="4450"/>
              </a:lnSpc>
              <a:buNone/>
            </a:pPr>
            <a:r>
              <a:rPr lang="en-US" sz="3550">
                <a:solidFill>
                  <a:srgbClr val="030303"/>
                </a:solidFill>
                <a:latin typeface="Inter Semi Bold" pitchFamily="34" charset="0"/>
                <a:ea typeface="Inter Semi Bold" pitchFamily="34" charset="-122"/>
                <a:cs typeface="Inter Semi Bold" pitchFamily="34" charset="-120"/>
              </a:rPr>
              <a:t>3.4 PERT – Quản lý thời gian </a:t>
            </a:r>
            <a:endParaRPr lang="en-US" sz="3550" dirty="0"/>
          </a:p>
        </p:txBody>
      </p:sp>
      <p:grpSp>
        <p:nvGrpSpPr>
          <p:cNvPr id="5" name="Group 4">
            <a:extLst>
              <a:ext uri="{FF2B5EF4-FFF2-40B4-BE49-F238E27FC236}">
                <a16:creationId xmlns:a16="http://schemas.microsoft.com/office/drawing/2014/main" id="{CB1EFC07-6BC5-E310-8625-C0218DD6EAB1}"/>
              </a:ext>
            </a:extLst>
          </p:cNvPr>
          <p:cNvGrpSpPr/>
          <p:nvPr/>
        </p:nvGrpSpPr>
        <p:grpSpPr>
          <a:xfrm>
            <a:off x="462795" y="1348107"/>
            <a:ext cx="13936111" cy="1203767"/>
            <a:chOff x="416688" y="1134319"/>
            <a:chExt cx="13936111" cy="1203767"/>
          </a:xfrm>
        </p:grpSpPr>
        <p:sp>
          <p:nvSpPr>
            <p:cNvPr id="15" name="Shape 4">
              <a:extLst>
                <a:ext uri="{FF2B5EF4-FFF2-40B4-BE49-F238E27FC236}">
                  <a16:creationId xmlns:a16="http://schemas.microsoft.com/office/drawing/2014/main" id="{281CA2FD-CBE6-23C2-A199-25AE5956CCF8}"/>
                </a:ext>
              </a:extLst>
            </p:cNvPr>
            <p:cNvSpPr/>
            <p:nvPr/>
          </p:nvSpPr>
          <p:spPr>
            <a:xfrm>
              <a:off x="416688" y="1134319"/>
              <a:ext cx="13936111" cy="1203767"/>
            </a:xfrm>
            <a:prstGeom prst="roundRect">
              <a:avLst>
                <a:gd name="adj" fmla="val 22944"/>
              </a:avLst>
            </a:prstGeom>
            <a:solidFill>
              <a:srgbClr val="F2EEEE"/>
            </a:solidFill>
            <a:ln/>
          </p:spPr>
          <p:txBody>
            <a:bodyPr/>
            <a:lstStyle/>
            <a:p>
              <a:endParaRPr lang="en-US"/>
            </a:p>
          </p:txBody>
        </p:sp>
        <p:sp>
          <p:nvSpPr>
            <p:cNvPr id="17" name="Text 6">
              <a:extLst>
                <a:ext uri="{FF2B5EF4-FFF2-40B4-BE49-F238E27FC236}">
                  <a16:creationId xmlns:a16="http://schemas.microsoft.com/office/drawing/2014/main" id="{98608CDB-0687-7D20-CCC2-1AFCCF46D6EE}"/>
                </a:ext>
              </a:extLst>
            </p:cNvPr>
            <p:cNvSpPr/>
            <p:nvPr/>
          </p:nvSpPr>
          <p:spPr>
            <a:xfrm>
              <a:off x="717630" y="1371256"/>
              <a:ext cx="13391909" cy="804785"/>
            </a:xfrm>
            <a:prstGeom prst="rect">
              <a:avLst/>
            </a:prstGeom>
            <a:noFill/>
            <a:ln/>
          </p:spPr>
          <p:txBody>
            <a:bodyPr wrap="square" lIns="0" tIns="0" rIns="0" bIns="0" rtlCol="0" anchor="t"/>
            <a:lstStyle/>
            <a:p>
              <a:pPr marL="0" indent="0" algn="ctr">
                <a:lnSpc>
                  <a:spcPts val="2850"/>
                </a:lnSpc>
                <a:buNone/>
              </a:pPr>
              <a:r>
                <a:rPr lang="vi-VN">
                  <a:solidFill>
                    <a:srgbClr val="464646"/>
                  </a:solidFill>
                  <a:latin typeface="Inter" pitchFamily="34" charset="0"/>
                  <a:ea typeface="Inter" pitchFamily="34" charset="-122"/>
                  <a:cs typeface="Inter" pitchFamily="34" charset="-120"/>
                </a:rPr>
                <a:t>Quản lý dự án này dự tính mất bao lâu mới hoàn thành. Tính toán thời gian triển khai công việc dựa theo công thức: EST = (MO + 4ML + MP) / 6. </a:t>
              </a:r>
              <a:endParaRPr lang="en-US" dirty="0"/>
            </a:p>
          </p:txBody>
        </p:sp>
      </p:grpSp>
      <p:pic>
        <p:nvPicPr>
          <p:cNvPr id="3" name="Picture 2">
            <a:extLst>
              <a:ext uri="{FF2B5EF4-FFF2-40B4-BE49-F238E27FC236}">
                <a16:creationId xmlns:a16="http://schemas.microsoft.com/office/drawing/2014/main" id="{B47ED083-60BF-0469-98E0-A7A7683AA12C}"/>
              </a:ext>
            </a:extLst>
          </p:cNvPr>
          <p:cNvPicPr>
            <a:picLocks noChangeAspect="1"/>
          </p:cNvPicPr>
          <p:nvPr/>
        </p:nvPicPr>
        <p:blipFill>
          <a:blip r:embed="rId4"/>
          <a:stretch>
            <a:fillRect/>
          </a:stretch>
        </p:blipFill>
        <p:spPr>
          <a:xfrm>
            <a:off x="1954626" y="2626766"/>
            <a:ext cx="11645628" cy="5332987"/>
          </a:xfrm>
          <a:prstGeom prst="rect">
            <a:avLst/>
          </a:prstGeom>
        </p:spPr>
      </p:pic>
    </p:spTree>
    <p:extLst>
      <p:ext uri="{BB962C8B-B14F-4D97-AF65-F5344CB8AC3E}">
        <p14:creationId xmlns:p14="http://schemas.microsoft.com/office/powerpoint/2010/main" val="406545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49FFD-1EA1-5B8D-3082-242725DFB89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D4EAA0B-2545-894E-0DB7-820B0A1066BE}"/>
              </a:ext>
            </a:extLst>
          </p:cNvPr>
          <p:cNvPicPr>
            <a:picLocks noChangeAspect="1"/>
          </p:cNvPicPr>
          <p:nvPr/>
        </p:nvPicPr>
        <p:blipFill>
          <a:blip r:embed="rId3"/>
          <a:stretch>
            <a:fillRect/>
          </a:stretch>
        </p:blipFill>
        <p:spPr>
          <a:xfrm>
            <a:off x="12812961" y="7617505"/>
            <a:ext cx="1817439" cy="703535"/>
          </a:xfrm>
          <a:prstGeom prst="rect">
            <a:avLst/>
          </a:prstGeom>
        </p:spPr>
      </p:pic>
      <p:sp>
        <p:nvSpPr>
          <p:cNvPr id="9" name="Text 0">
            <a:extLst>
              <a:ext uri="{FF2B5EF4-FFF2-40B4-BE49-F238E27FC236}">
                <a16:creationId xmlns:a16="http://schemas.microsoft.com/office/drawing/2014/main" id="{3508125D-D044-0A62-BEB2-78C35951AA3E}"/>
              </a:ext>
            </a:extLst>
          </p:cNvPr>
          <p:cNvSpPr/>
          <p:nvPr/>
        </p:nvSpPr>
        <p:spPr>
          <a:xfrm>
            <a:off x="277600" y="295641"/>
            <a:ext cx="14121306" cy="566976"/>
          </a:xfrm>
          <a:prstGeom prst="rect">
            <a:avLst/>
          </a:prstGeom>
          <a:noFill/>
          <a:ln/>
        </p:spPr>
        <p:txBody>
          <a:bodyPr wrap="none" lIns="0" tIns="0" rIns="0" bIns="0" rtlCol="0" anchor="t"/>
          <a:lstStyle/>
          <a:p>
            <a:pPr marL="0" indent="0" algn="ctr">
              <a:lnSpc>
                <a:spcPts val="4450"/>
              </a:lnSpc>
              <a:buNone/>
            </a:pPr>
            <a:r>
              <a:rPr lang="en-US" sz="3550">
                <a:solidFill>
                  <a:srgbClr val="030303"/>
                </a:solidFill>
                <a:latin typeface="Inter Semi Bold" pitchFamily="34" charset="0"/>
                <a:ea typeface="Inter Semi Bold" pitchFamily="34" charset="-122"/>
                <a:cs typeface="Inter Semi Bold" pitchFamily="34" charset="-120"/>
              </a:rPr>
              <a:t>3.5 COST – Quản lý chi phí dự án </a:t>
            </a:r>
            <a:endParaRPr lang="en-US" sz="3550" dirty="0"/>
          </a:p>
        </p:txBody>
      </p:sp>
      <p:grpSp>
        <p:nvGrpSpPr>
          <p:cNvPr id="5" name="Group 4">
            <a:extLst>
              <a:ext uri="{FF2B5EF4-FFF2-40B4-BE49-F238E27FC236}">
                <a16:creationId xmlns:a16="http://schemas.microsoft.com/office/drawing/2014/main" id="{AE99601D-6C59-1427-720C-AA39215671A6}"/>
              </a:ext>
            </a:extLst>
          </p:cNvPr>
          <p:cNvGrpSpPr/>
          <p:nvPr/>
        </p:nvGrpSpPr>
        <p:grpSpPr>
          <a:xfrm>
            <a:off x="462795" y="1348107"/>
            <a:ext cx="13936111" cy="1203767"/>
            <a:chOff x="416688" y="1134319"/>
            <a:chExt cx="13936111" cy="1203767"/>
          </a:xfrm>
        </p:grpSpPr>
        <p:sp>
          <p:nvSpPr>
            <p:cNvPr id="15" name="Shape 4">
              <a:extLst>
                <a:ext uri="{FF2B5EF4-FFF2-40B4-BE49-F238E27FC236}">
                  <a16:creationId xmlns:a16="http://schemas.microsoft.com/office/drawing/2014/main" id="{B4E13722-E7FF-B0E0-60C5-AC77BE8B74A6}"/>
                </a:ext>
              </a:extLst>
            </p:cNvPr>
            <p:cNvSpPr/>
            <p:nvPr/>
          </p:nvSpPr>
          <p:spPr>
            <a:xfrm>
              <a:off x="416688" y="1134319"/>
              <a:ext cx="13936111" cy="1203767"/>
            </a:xfrm>
            <a:prstGeom prst="roundRect">
              <a:avLst>
                <a:gd name="adj" fmla="val 22944"/>
              </a:avLst>
            </a:prstGeom>
            <a:solidFill>
              <a:srgbClr val="F2EEEE"/>
            </a:solidFill>
            <a:ln/>
          </p:spPr>
          <p:txBody>
            <a:bodyPr/>
            <a:lstStyle/>
            <a:p>
              <a:endParaRPr lang="en-US"/>
            </a:p>
          </p:txBody>
        </p:sp>
        <p:sp>
          <p:nvSpPr>
            <p:cNvPr id="17" name="Text 6">
              <a:extLst>
                <a:ext uri="{FF2B5EF4-FFF2-40B4-BE49-F238E27FC236}">
                  <a16:creationId xmlns:a16="http://schemas.microsoft.com/office/drawing/2014/main" id="{50DC9451-6BDB-D154-1B00-79C879858F06}"/>
                </a:ext>
              </a:extLst>
            </p:cNvPr>
            <p:cNvSpPr/>
            <p:nvPr/>
          </p:nvSpPr>
          <p:spPr>
            <a:xfrm>
              <a:off x="717630" y="1371256"/>
              <a:ext cx="13391909" cy="804785"/>
            </a:xfrm>
            <a:prstGeom prst="rect">
              <a:avLst/>
            </a:prstGeom>
            <a:noFill/>
            <a:ln/>
          </p:spPr>
          <p:txBody>
            <a:bodyPr wrap="square" lIns="0" tIns="0" rIns="0" bIns="0" rtlCol="0" anchor="t"/>
            <a:lstStyle/>
            <a:p>
              <a:pPr marL="0" indent="0" algn="ctr">
                <a:lnSpc>
                  <a:spcPts val="2850"/>
                </a:lnSpc>
                <a:buNone/>
              </a:pPr>
              <a:r>
                <a:rPr lang="vi-VN">
                  <a:solidFill>
                    <a:srgbClr val="464646"/>
                  </a:solidFill>
                  <a:latin typeface="Inter" pitchFamily="34" charset="0"/>
                  <a:ea typeface="Inter" pitchFamily="34" charset="-122"/>
                  <a:cs typeface="Inter" pitchFamily="34" charset="-120"/>
                </a:rPr>
                <a:t>Quản lý</a:t>
              </a:r>
              <a:r>
                <a:rPr lang="en-US">
                  <a:solidFill>
                    <a:srgbClr val="464646"/>
                  </a:solidFill>
                  <a:latin typeface="Inter" pitchFamily="34" charset="0"/>
                  <a:ea typeface="Inter" pitchFamily="34" charset="-122"/>
                  <a:cs typeface="Inter" pitchFamily="34" charset="-120"/>
                </a:rPr>
                <a:t> tổng</a:t>
              </a:r>
              <a:r>
                <a:rPr lang="vi-VN">
                  <a:solidFill>
                    <a:srgbClr val="464646"/>
                  </a:solidFill>
                  <a:latin typeface="Inter" pitchFamily="34" charset="0"/>
                  <a:ea typeface="Inter" pitchFamily="34" charset="-122"/>
                  <a:cs typeface="Inter" pitchFamily="34" charset="-120"/>
                </a:rPr>
                <a:t> chi phí của dự án dựa theo </a:t>
              </a:r>
              <a:r>
                <a:rPr lang="en-US">
                  <a:solidFill>
                    <a:srgbClr val="464646"/>
                  </a:solidFill>
                  <a:latin typeface="Inter" pitchFamily="34" charset="0"/>
                  <a:ea typeface="Inter" pitchFamily="34" charset="-122"/>
                  <a:cs typeface="Inter" pitchFamily="34" charset="-120"/>
                </a:rPr>
                <a:t>chi phí </a:t>
              </a:r>
              <a:r>
                <a:rPr lang="vi-VN">
                  <a:solidFill>
                    <a:srgbClr val="464646"/>
                  </a:solidFill>
                  <a:latin typeface="Inter" pitchFamily="34" charset="0"/>
                  <a:ea typeface="Inter" pitchFamily="34" charset="-122"/>
                  <a:cs typeface="Inter" pitchFamily="34" charset="-120"/>
                </a:rPr>
                <a:t>các công việc. </a:t>
              </a:r>
              <a:endParaRPr lang="en-US" dirty="0"/>
            </a:p>
          </p:txBody>
        </p:sp>
      </p:grpSp>
      <p:pic>
        <p:nvPicPr>
          <p:cNvPr id="4" name="Picture 3">
            <a:extLst>
              <a:ext uri="{FF2B5EF4-FFF2-40B4-BE49-F238E27FC236}">
                <a16:creationId xmlns:a16="http://schemas.microsoft.com/office/drawing/2014/main" id="{BE57A1E5-96C6-319C-1838-42B0EA70DAAA}"/>
              </a:ext>
            </a:extLst>
          </p:cNvPr>
          <p:cNvPicPr>
            <a:picLocks noChangeAspect="1"/>
          </p:cNvPicPr>
          <p:nvPr/>
        </p:nvPicPr>
        <p:blipFill>
          <a:blip r:embed="rId4"/>
          <a:stretch>
            <a:fillRect/>
          </a:stretch>
        </p:blipFill>
        <p:spPr>
          <a:xfrm>
            <a:off x="2062895" y="2917835"/>
            <a:ext cx="11301543" cy="5138143"/>
          </a:xfrm>
          <a:prstGeom prst="rect">
            <a:avLst/>
          </a:prstGeom>
        </p:spPr>
      </p:pic>
    </p:spTree>
    <p:extLst>
      <p:ext uri="{BB962C8B-B14F-4D97-AF65-F5344CB8AC3E}">
        <p14:creationId xmlns:p14="http://schemas.microsoft.com/office/powerpoint/2010/main" val="3600493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EC48A-A919-876B-94DD-17DC920EE6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46322A3-78DE-B6ED-6288-B3A1CACE3A3B}"/>
              </a:ext>
            </a:extLst>
          </p:cNvPr>
          <p:cNvPicPr>
            <a:picLocks noChangeAspect="1"/>
          </p:cNvPicPr>
          <p:nvPr/>
        </p:nvPicPr>
        <p:blipFill>
          <a:blip r:embed="rId3"/>
          <a:stretch>
            <a:fillRect/>
          </a:stretch>
        </p:blipFill>
        <p:spPr>
          <a:xfrm>
            <a:off x="12812961" y="7617505"/>
            <a:ext cx="1817439" cy="703535"/>
          </a:xfrm>
          <a:prstGeom prst="rect">
            <a:avLst/>
          </a:prstGeom>
        </p:spPr>
      </p:pic>
      <p:sp>
        <p:nvSpPr>
          <p:cNvPr id="6" name="Text 0">
            <a:extLst>
              <a:ext uri="{FF2B5EF4-FFF2-40B4-BE49-F238E27FC236}">
                <a16:creationId xmlns:a16="http://schemas.microsoft.com/office/drawing/2014/main" id="{270F12D5-F18A-D587-588C-95248A1A2223}"/>
              </a:ext>
            </a:extLst>
          </p:cNvPr>
          <p:cNvSpPr/>
          <p:nvPr/>
        </p:nvSpPr>
        <p:spPr>
          <a:xfrm>
            <a:off x="291985" y="265884"/>
            <a:ext cx="8759417" cy="766680"/>
          </a:xfrm>
          <a:prstGeom prst="rect">
            <a:avLst/>
          </a:prstGeom>
          <a:noFill/>
          <a:ln/>
        </p:spPr>
        <p:txBody>
          <a:bodyPr wrap="square" lIns="0" tIns="0" rIns="0" bIns="0" rtlCol="0" anchor="t"/>
          <a:lstStyle/>
          <a:p>
            <a:pPr marL="0" indent="0" algn="l">
              <a:lnSpc>
                <a:spcPts val="5550"/>
              </a:lnSpc>
              <a:buNone/>
            </a:pPr>
            <a:r>
              <a:rPr lang="en-US" sz="4450">
                <a:solidFill>
                  <a:srgbClr val="030303"/>
                </a:solidFill>
                <a:latin typeface="Inter Semi Bold" pitchFamily="34" charset="0"/>
                <a:ea typeface="Inter Semi Bold" pitchFamily="34" charset="-122"/>
                <a:cs typeface="Inter Semi Bold" pitchFamily="34" charset="-120"/>
              </a:rPr>
              <a:t>4. Công việc được phân công</a:t>
            </a:r>
            <a:endParaRPr lang="en-US" sz="4450" dirty="0"/>
          </a:p>
        </p:txBody>
      </p:sp>
      <p:sp>
        <p:nvSpPr>
          <p:cNvPr id="9" name="Text 0">
            <a:extLst>
              <a:ext uri="{FF2B5EF4-FFF2-40B4-BE49-F238E27FC236}">
                <a16:creationId xmlns:a16="http://schemas.microsoft.com/office/drawing/2014/main" id="{093613A0-1C81-1074-A8F1-7670257A1981}"/>
              </a:ext>
            </a:extLst>
          </p:cNvPr>
          <p:cNvSpPr/>
          <p:nvPr/>
        </p:nvSpPr>
        <p:spPr>
          <a:xfrm>
            <a:off x="793790" y="1152168"/>
            <a:ext cx="7155656" cy="566976"/>
          </a:xfrm>
          <a:prstGeom prst="rect">
            <a:avLst/>
          </a:prstGeom>
          <a:noFill/>
          <a:ln/>
        </p:spPr>
        <p:txBody>
          <a:bodyPr wrap="none" lIns="0" tIns="0" rIns="0" bIns="0" rtlCol="0" anchor="t"/>
          <a:lstStyle/>
          <a:p>
            <a:pPr marL="0" indent="0" algn="l">
              <a:lnSpc>
                <a:spcPts val="4450"/>
              </a:lnSpc>
              <a:buNone/>
            </a:pPr>
            <a:r>
              <a:rPr lang="en-US" sz="3550">
                <a:solidFill>
                  <a:srgbClr val="030303"/>
                </a:solidFill>
                <a:latin typeface="Inter Semi Bold" pitchFamily="34" charset="0"/>
                <a:ea typeface="Inter Semi Bold" pitchFamily="34" charset="-122"/>
                <a:cs typeface="Inter Semi Bold" pitchFamily="34" charset="-120"/>
              </a:rPr>
              <a:t>4.1 Setup môi trường</a:t>
            </a:r>
            <a:endParaRPr lang="en-US" sz="3550" dirty="0"/>
          </a:p>
        </p:txBody>
      </p:sp>
      <p:sp>
        <p:nvSpPr>
          <p:cNvPr id="10" name="Shape 4">
            <a:extLst>
              <a:ext uri="{FF2B5EF4-FFF2-40B4-BE49-F238E27FC236}">
                <a16:creationId xmlns:a16="http://schemas.microsoft.com/office/drawing/2014/main" id="{ED0CE7F0-E626-3F2A-D2D6-F7CD5290DFBB}"/>
              </a:ext>
            </a:extLst>
          </p:cNvPr>
          <p:cNvSpPr/>
          <p:nvPr/>
        </p:nvSpPr>
        <p:spPr>
          <a:xfrm>
            <a:off x="3516775" y="2410044"/>
            <a:ext cx="7407364" cy="2395657"/>
          </a:xfrm>
          <a:prstGeom prst="roundRect">
            <a:avLst>
              <a:gd name="adj" fmla="val 8521"/>
            </a:avLst>
          </a:prstGeom>
          <a:solidFill>
            <a:srgbClr val="F2EEEE"/>
          </a:solidFill>
          <a:ln/>
        </p:spPr>
        <p:txBody>
          <a:bodyPr/>
          <a:lstStyle/>
          <a:p>
            <a:endParaRPr lang="en-US"/>
          </a:p>
        </p:txBody>
      </p:sp>
      <p:sp>
        <p:nvSpPr>
          <p:cNvPr id="12" name="Text 6">
            <a:extLst>
              <a:ext uri="{FF2B5EF4-FFF2-40B4-BE49-F238E27FC236}">
                <a16:creationId xmlns:a16="http://schemas.microsoft.com/office/drawing/2014/main" id="{F37A6E75-AAB0-579E-D534-CFE3D73A7C3B}"/>
              </a:ext>
            </a:extLst>
          </p:cNvPr>
          <p:cNvSpPr/>
          <p:nvPr/>
        </p:nvSpPr>
        <p:spPr>
          <a:xfrm>
            <a:off x="3852308" y="2617991"/>
            <a:ext cx="6970020" cy="1856642"/>
          </a:xfrm>
          <a:prstGeom prst="rect">
            <a:avLst/>
          </a:prstGeom>
          <a:noFill/>
          <a:ln/>
        </p:spPr>
        <p:txBody>
          <a:bodyPr wrap="square" lIns="0" tIns="0" rIns="0" bIns="0" rtlCol="0" anchor="t"/>
          <a:lstStyle/>
          <a:p>
            <a:pPr marL="0" indent="0">
              <a:lnSpc>
                <a:spcPct val="200000"/>
              </a:lnSpc>
              <a:buNone/>
            </a:pPr>
            <a:r>
              <a:rPr lang="vi-VN" sz="2000">
                <a:solidFill>
                  <a:srgbClr val="464646"/>
                </a:solidFill>
                <a:latin typeface="Inter" pitchFamily="34" charset="0"/>
                <a:ea typeface="Inter" pitchFamily="34" charset="-122"/>
                <a:cs typeface="Inter" pitchFamily="34" charset="-120"/>
              </a:rPr>
              <a:t>•</a:t>
            </a:r>
            <a:r>
              <a:rPr lang="en-US" sz="2000">
                <a:solidFill>
                  <a:srgbClr val="464646"/>
                </a:solidFill>
                <a:latin typeface="Inter" pitchFamily="34" charset="0"/>
                <a:ea typeface="Inter" pitchFamily="34" charset="-122"/>
                <a:cs typeface="Inter" pitchFamily="34" charset="-120"/>
              </a:rPr>
              <a:t> </a:t>
            </a:r>
            <a:r>
              <a:rPr lang="vi-VN" sz="2000">
                <a:solidFill>
                  <a:srgbClr val="464646"/>
                </a:solidFill>
                <a:latin typeface="Inter" pitchFamily="34" charset="0"/>
                <a:ea typeface="Inter" pitchFamily="34" charset="-122"/>
                <a:cs typeface="Inter" pitchFamily="34" charset="-120"/>
              </a:rPr>
              <a:t>Khởi tạo môi trường ReactJS (Vite) &amp; Quản lý thư viện.</a:t>
            </a:r>
          </a:p>
          <a:p>
            <a:pPr marL="0" indent="0">
              <a:lnSpc>
                <a:spcPct val="200000"/>
              </a:lnSpc>
              <a:buNone/>
            </a:pPr>
            <a:r>
              <a:rPr lang="vi-VN" sz="2000">
                <a:solidFill>
                  <a:srgbClr val="464646"/>
                </a:solidFill>
                <a:latin typeface="Inter" pitchFamily="34" charset="0"/>
                <a:ea typeface="Inter" pitchFamily="34" charset="-122"/>
                <a:cs typeface="Inter" pitchFamily="34" charset="-120"/>
              </a:rPr>
              <a:t>•</a:t>
            </a:r>
            <a:r>
              <a:rPr lang="en-US" sz="2000">
                <a:solidFill>
                  <a:srgbClr val="464646"/>
                </a:solidFill>
                <a:latin typeface="Inter" pitchFamily="34" charset="0"/>
                <a:ea typeface="Inter" pitchFamily="34" charset="-122"/>
                <a:cs typeface="Inter" pitchFamily="34" charset="-120"/>
              </a:rPr>
              <a:t> </a:t>
            </a:r>
            <a:r>
              <a:rPr lang="vi-VN" sz="2000">
                <a:solidFill>
                  <a:srgbClr val="464646"/>
                </a:solidFill>
                <a:latin typeface="Inter" pitchFamily="34" charset="0"/>
                <a:ea typeface="Inter" pitchFamily="34" charset="-122"/>
                <a:cs typeface="Inter" pitchFamily="34" charset="-120"/>
              </a:rPr>
              <a:t>Cấu hình Axios Interceptors xử lý API đồng bộ.</a:t>
            </a:r>
          </a:p>
          <a:p>
            <a:pPr marL="0" indent="0">
              <a:lnSpc>
                <a:spcPct val="200000"/>
              </a:lnSpc>
              <a:buNone/>
            </a:pPr>
            <a:r>
              <a:rPr lang="vi-VN" sz="2000">
                <a:solidFill>
                  <a:srgbClr val="464646"/>
                </a:solidFill>
                <a:latin typeface="Inter" pitchFamily="34" charset="0"/>
                <a:ea typeface="Inter" pitchFamily="34" charset="-122"/>
                <a:cs typeface="Inter" pitchFamily="34" charset="-120"/>
              </a:rPr>
              <a:t>•</a:t>
            </a:r>
            <a:r>
              <a:rPr lang="en-US" sz="2000">
                <a:solidFill>
                  <a:srgbClr val="464646"/>
                </a:solidFill>
                <a:latin typeface="Inter" pitchFamily="34" charset="0"/>
                <a:ea typeface="Inter" pitchFamily="34" charset="-122"/>
                <a:cs typeface="Inter" pitchFamily="34" charset="-120"/>
              </a:rPr>
              <a:t> </a:t>
            </a:r>
            <a:r>
              <a:rPr lang="vi-VN" sz="2000">
                <a:solidFill>
                  <a:srgbClr val="464646"/>
                </a:solidFill>
                <a:latin typeface="Inter" pitchFamily="34" charset="0"/>
                <a:ea typeface="Inter" pitchFamily="34" charset="-122"/>
                <a:cs typeface="Inter" pitchFamily="34" charset="-120"/>
              </a:rPr>
              <a:t>Xây dựng luồng Protected Routes &amp; Context API.</a:t>
            </a:r>
          </a:p>
        </p:txBody>
      </p:sp>
      <p:sp>
        <p:nvSpPr>
          <p:cNvPr id="15" name="Shape 4">
            <a:extLst>
              <a:ext uri="{FF2B5EF4-FFF2-40B4-BE49-F238E27FC236}">
                <a16:creationId xmlns:a16="http://schemas.microsoft.com/office/drawing/2014/main" id="{34FD726D-4FB9-4EDC-E1AE-EE7C496654BE}"/>
              </a:ext>
            </a:extLst>
          </p:cNvPr>
          <p:cNvSpPr/>
          <p:nvPr/>
        </p:nvSpPr>
        <p:spPr>
          <a:xfrm>
            <a:off x="648182" y="5180179"/>
            <a:ext cx="13553955" cy="2690606"/>
          </a:xfrm>
          <a:prstGeom prst="roundRect">
            <a:avLst>
              <a:gd name="adj" fmla="val 8521"/>
            </a:avLst>
          </a:prstGeom>
          <a:solidFill>
            <a:srgbClr val="F2EEEE"/>
          </a:solidFill>
          <a:ln/>
        </p:spPr>
        <p:txBody>
          <a:bodyPr/>
          <a:lstStyle/>
          <a:p>
            <a:endParaRPr lang="en-US"/>
          </a:p>
        </p:txBody>
      </p:sp>
      <p:sp>
        <p:nvSpPr>
          <p:cNvPr id="16" name="Text 5">
            <a:extLst>
              <a:ext uri="{FF2B5EF4-FFF2-40B4-BE49-F238E27FC236}">
                <a16:creationId xmlns:a16="http://schemas.microsoft.com/office/drawing/2014/main" id="{A8586A62-129E-7B93-9C1B-82280F8914B8}"/>
              </a:ext>
            </a:extLst>
          </p:cNvPr>
          <p:cNvSpPr/>
          <p:nvPr/>
        </p:nvSpPr>
        <p:spPr>
          <a:xfrm>
            <a:off x="5191525" y="5290159"/>
            <a:ext cx="2835235"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cs typeface="Inter Semi Bold" pitchFamily="34" charset="-120"/>
              </a:rPr>
              <a:t>Triển khai</a:t>
            </a:r>
            <a:endParaRPr lang="en-US" sz="2400" b="1" dirty="0"/>
          </a:p>
        </p:txBody>
      </p:sp>
      <p:sp>
        <p:nvSpPr>
          <p:cNvPr id="17" name="Text 6">
            <a:extLst>
              <a:ext uri="{FF2B5EF4-FFF2-40B4-BE49-F238E27FC236}">
                <a16:creationId xmlns:a16="http://schemas.microsoft.com/office/drawing/2014/main" id="{74DA410B-4B77-48EF-C014-284B6953B393}"/>
              </a:ext>
            </a:extLst>
          </p:cNvPr>
          <p:cNvSpPr/>
          <p:nvPr/>
        </p:nvSpPr>
        <p:spPr>
          <a:xfrm>
            <a:off x="877616" y="5644489"/>
            <a:ext cx="13104602" cy="1682286"/>
          </a:xfrm>
          <a:prstGeom prst="rect">
            <a:avLst/>
          </a:prstGeom>
          <a:noFill/>
          <a:ln/>
        </p:spPr>
        <p:txBody>
          <a:bodyPr wrap="square" lIns="0" tIns="0" rIns="0" bIns="0" rtlCol="0" anchor="t"/>
          <a:lstStyle/>
          <a:p>
            <a:pPr marL="285750" indent="-285750">
              <a:lnSpc>
                <a:spcPct val="150000"/>
              </a:lnSpc>
              <a:buFontTx/>
              <a:buChar char="-"/>
            </a:pPr>
            <a:r>
              <a:rPr lang="en-US">
                <a:solidFill>
                  <a:srgbClr val="464646"/>
                </a:solidFill>
                <a:latin typeface="Inter" pitchFamily="34" charset="0"/>
                <a:ea typeface="Inter" pitchFamily="34" charset="-122"/>
                <a:cs typeface="Inter" pitchFamily="34" charset="-120"/>
              </a:rPr>
              <a:t>Khởi tạo React với Vite, tích hợp với một số thư viện cần ( react-router-dom, tailwindCss, ….)</a:t>
            </a:r>
          </a:p>
          <a:p>
            <a:pPr marL="285750" indent="-285750">
              <a:lnSpc>
                <a:spcPct val="150000"/>
              </a:lnSpc>
              <a:buFontTx/>
              <a:buChar char="-"/>
            </a:pPr>
            <a:r>
              <a:rPr lang="vi-VN">
                <a:solidFill>
                  <a:srgbClr val="464646"/>
                </a:solidFill>
                <a:latin typeface="Inter" pitchFamily="34" charset="0"/>
                <a:ea typeface="Inter" pitchFamily="34" charset="-122"/>
                <a:cs typeface="Inter" pitchFamily="34" charset="-120"/>
              </a:rPr>
              <a:t>Thay vì gọi API thủ công, cấu hình Axios Interceptors để tự động đính kèm Token vào mỗi request</a:t>
            </a:r>
            <a:endParaRPr lang="en-US">
              <a:solidFill>
                <a:srgbClr val="464646"/>
              </a:solidFill>
              <a:latin typeface="Inter" pitchFamily="34" charset="0"/>
              <a:ea typeface="Inter" pitchFamily="34" charset="-122"/>
              <a:cs typeface="Inter" pitchFamily="34" charset="-120"/>
            </a:endParaRPr>
          </a:p>
          <a:p>
            <a:pPr marL="285750" indent="-285750">
              <a:lnSpc>
                <a:spcPct val="150000"/>
              </a:lnSpc>
              <a:buFontTx/>
              <a:buChar char="-"/>
            </a:pPr>
            <a:r>
              <a:rPr lang="en-US">
                <a:solidFill>
                  <a:srgbClr val="464646"/>
                </a:solidFill>
                <a:latin typeface="Inter" pitchFamily="34" charset="0"/>
                <a:ea typeface="Inter" pitchFamily="34" charset="-122"/>
                <a:cs typeface="Inter" pitchFamily="34" charset="-120"/>
              </a:rPr>
              <a:t>H</a:t>
            </a:r>
            <a:r>
              <a:rPr lang="vi-VN">
                <a:solidFill>
                  <a:srgbClr val="464646"/>
                </a:solidFill>
                <a:latin typeface="Inter" pitchFamily="34" charset="0"/>
                <a:ea typeface="Inter" pitchFamily="34" charset="-122"/>
                <a:cs typeface="Inter" pitchFamily="34" charset="-120"/>
              </a:rPr>
              <a:t>ệ thống Protected Routes kết hợp Context API</a:t>
            </a:r>
            <a:r>
              <a:rPr lang="en-US">
                <a:solidFill>
                  <a:srgbClr val="464646"/>
                </a:solidFill>
                <a:latin typeface="Inter" pitchFamily="34" charset="0"/>
                <a:ea typeface="Inter" pitchFamily="34" charset="-122"/>
                <a:cs typeface="Inter" pitchFamily="34" charset="-120"/>
              </a:rPr>
              <a:t> </a:t>
            </a:r>
            <a:r>
              <a:rPr lang="vi-VN">
                <a:solidFill>
                  <a:srgbClr val="464646"/>
                </a:solidFill>
                <a:latin typeface="Inter" pitchFamily="34" charset="0"/>
                <a:ea typeface="Inter" pitchFamily="34" charset="-122"/>
                <a:cs typeface="Inter" pitchFamily="34" charset="-120"/>
              </a:rPr>
              <a:t>đóng vai trò gác cổng: Nếu chưa có Token </a:t>
            </a:r>
            <a:r>
              <a:rPr lang="en-US">
                <a:solidFill>
                  <a:srgbClr val="464646"/>
                </a:solidFill>
                <a:latin typeface="Inter" pitchFamily="34" charset="0"/>
                <a:ea typeface="Inter" pitchFamily="34" charset="-122"/>
                <a:cs typeface="Inter" pitchFamily="34" charset="-120"/>
                <a:sym typeface="Wingdings" panose="05000000000000000000" pitchFamily="2" charset="2"/>
              </a:rPr>
              <a:t> </a:t>
            </a:r>
            <a:r>
              <a:rPr lang="vi-VN">
                <a:solidFill>
                  <a:srgbClr val="464646"/>
                </a:solidFill>
                <a:latin typeface="Inter" pitchFamily="34" charset="0"/>
                <a:ea typeface="Inter" pitchFamily="34" charset="-122"/>
                <a:cs typeface="Inter" pitchFamily="34" charset="-120"/>
              </a:rPr>
              <a:t>chặn không cho vào Dashboard. Có Token nhưng chưa nhập Mã dự án </a:t>
            </a:r>
            <a:r>
              <a:rPr lang="en-US">
                <a:solidFill>
                  <a:srgbClr val="464646"/>
                </a:solidFill>
                <a:latin typeface="Inter" pitchFamily="34" charset="0"/>
                <a:ea typeface="Inter" pitchFamily="34" charset="-122"/>
                <a:cs typeface="Inter" pitchFamily="34" charset="-120"/>
                <a:sym typeface="Wingdings" panose="05000000000000000000" pitchFamily="2" charset="2"/>
              </a:rPr>
              <a:t> </a:t>
            </a:r>
            <a:r>
              <a:rPr lang="vi-VN">
                <a:solidFill>
                  <a:srgbClr val="464646"/>
                </a:solidFill>
                <a:latin typeface="Inter" pitchFamily="34" charset="0"/>
                <a:ea typeface="Inter" pitchFamily="34" charset="-122"/>
                <a:cs typeface="Inter" pitchFamily="34" charset="-120"/>
              </a:rPr>
              <a:t>ép ở lại trang Join Project. Tránh lỗi </a:t>
            </a:r>
            <a:r>
              <a:rPr lang="en-US">
                <a:solidFill>
                  <a:srgbClr val="464646"/>
                </a:solidFill>
                <a:latin typeface="Inter" pitchFamily="34" charset="0"/>
                <a:ea typeface="Inter" pitchFamily="34" charset="-122"/>
                <a:cs typeface="Inter" pitchFamily="34" charset="-120"/>
              </a:rPr>
              <a:t> khi </a:t>
            </a:r>
            <a:r>
              <a:rPr lang="vi-VN">
                <a:solidFill>
                  <a:srgbClr val="464646"/>
                </a:solidFill>
                <a:latin typeface="Inter" pitchFamily="34" charset="0"/>
                <a:ea typeface="Inter" pitchFamily="34" charset="-122"/>
                <a:cs typeface="Inter" pitchFamily="34" charset="-120"/>
              </a:rPr>
              <a:t>truy cập URL trái phép</a:t>
            </a:r>
            <a:endParaRPr lang="en-US" dirty="0"/>
          </a:p>
        </p:txBody>
      </p:sp>
    </p:spTree>
    <p:extLst>
      <p:ext uri="{BB962C8B-B14F-4D97-AF65-F5344CB8AC3E}">
        <p14:creationId xmlns:p14="http://schemas.microsoft.com/office/powerpoint/2010/main" val="3353314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63488-0844-D917-79C9-C80A0A3DEDFE}"/>
            </a:ext>
          </a:extLst>
        </p:cNvPr>
        <p:cNvGrpSpPr/>
        <p:nvPr/>
      </p:nvGrpSpPr>
      <p:grpSpPr>
        <a:xfrm>
          <a:off x="0" y="0"/>
          <a:ext cx="0" cy="0"/>
          <a:chOff x="0" y="0"/>
          <a:chExt cx="0" cy="0"/>
        </a:xfrm>
      </p:grpSpPr>
      <p:sp>
        <p:nvSpPr>
          <p:cNvPr id="9" name="Text 0">
            <a:extLst>
              <a:ext uri="{FF2B5EF4-FFF2-40B4-BE49-F238E27FC236}">
                <a16:creationId xmlns:a16="http://schemas.microsoft.com/office/drawing/2014/main" id="{C2C8CCCB-754D-0CE8-9A73-412A1F078CA0}"/>
              </a:ext>
            </a:extLst>
          </p:cNvPr>
          <p:cNvSpPr/>
          <p:nvPr/>
        </p:nvSpPr>
        <p:spPr>
          <a:xfrm>
            <a:off x="185195" y="178631"/>
            <a:ext cx="14283159" cy="566976"/>
          </a:xfrm>
          <a:prstGeom prst="rect">
            <a:avLst/>
          </a:prstGeom>
          <a:noFill/>
          <a:ln/>
        </p:spPr>
        <p:txBody>
          <a:bodyPr wrap="none" lIns="0" tIns="0" rIns="0" bIns="0" rtlCol="0" anchor="t"/>
          <a:lstStyle/>
          <a:p>
            <a:pPr marL="0" indent="0" algn="ctr">
              <a:lnSpc>
                <a:spcPts val="4450"/>
              </a:lnSpc>
              <a:buNone/>
            </a:pPr>
            <a:r>
              <a:rPr lang="en-US" sz="3550">
                <a:solidFill>
                  <a:srgbClr val="030303"/>
                </a:solidFill>
                <a:latin typeface="Inter Semi Bold" pitchFamily="34" charset="0"/>
                <a:ea typeface="Inter Semi Bold" pitchFamily="34" charset="-122"/>
                <a:cs typeface="Inter Semi Bold" pitchFamily="34" charset="-120"/>
              </a:rPr>
              <a:t>4.2: Form đăng nhập, đăng ký</a:t>
            </a:r>
            <a:endParaRPr lang="en-US" sz="3550" dirty="0"/>
          </a:p>
        </p:txBody>
      </p:sp>
      <p:sp>
        <p:nvSpPr>
          <p:cNvPr id="15" name="Shape 4">
            <a:extLst>
              <a:ext uri="{FF2B5EF4-FFF2-40B4-BE49-F238E27FC236}">
                <a16:creationId xmlns:a16="http://schemas.microsoft.com/office/drawing/2014/main" id="{7C1C81C6-FA41-8F84-D11B-7AFCD5CF9E7F}"/>
              </a:ext>
            </a:extLst>
          </p:cNvPr>
          <p:cNvSpPr/>
          <p:nvPr/>
        </p:nvSpPr>
        <p:spPr>
          <a:xfrm>
            <a:off x="567144" y="2060294"/>
            <a:ext cx="2447302" cy="4629874"/>
          </a:xfrm>
          <a:prstGeom prst="roundRect">
            <a:avLst>
              <a:gd name="adj" fmla="val 8521"/>
            </a:avLst>
          </a:prstGeom>
          <a:solidFill>
            <a:srgbClr val="F2EEEE"/>
          </a:solidFill>
          <a:ln/>
        </p:spPr>
        <p:txBody>
          <a:bodyPr/>
          <a:lstStyle/>
          <a:p>
            <a:endParaRPr lang="en-US"/>
          </a:p>
        </p:txBody>
      </p:sp>
      <p:sp>
        <p:nvSpPr>
          <p:cNvPr id="16" name="Text 5">
            <a:extLst>
              <a:ext uri="{FF2B5EF4-FFF2-40B4-BE49-F238E27FC236}">
                <a16:creationId xmlns:a16="http://schemas.microsoft.com/office/drawing/2014/main" id="{319366FF-00F7-105B-2D7C-1397618A93E2}"/>
              </a:ext>
            </a:extLst>
          </p:cNvPr>
          <p:cNvSpPr/>
          <p:nvPr/>
        </p:nvSpPr>
        <p:spPr>
          <a:xfrm>
            <a:off x="715742" y="2346266"/>
            <a:ext cx="2150104"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rPr>
              <a:t>Đăng ký</a:t>
            </a:r>
            <a:endParaRPr lang="en-US" sz="2400" b="1" dirty="0"/>
          </a:p>
        </p:txBody>
      </p:sp>
      <p:sp>
        <p:nvSpPr>
          <p:cNvPr id="17" name="Text 6">
            <a:extLst>
              <a:ext uri="{FF2B5EF4-FFF2-40B4-BE49-F238E27FC236}">
                <a16:creationId xmlns:a16="http://schemas.microsoft.com/office/drawing/2014/main" id="{9F2EBE03-B7A8-3AB2-050A-D8FEB69F4352}"/>
              </a:ext>
            </a:extLst>
          </p:cNvPr>
          <p:cNvSpPr/>
          <p:nvPr/>
        </p:nvSpPr>
        <p:spPr>
          <a:xfrm>
            <a:off x="715742" y="2918125"/>
            <a:ext cx="2150105" cy="3443251"/>
          </a:xfrm>
          <a:prstGeom prst="rect">
            <a:avLst/>
          </a:prstGeom>
          <a:noFill/>
          <a:ln/>
        </p:spPr>
        <p:txBody>
          <a:bodyPr wrap="square" lIns="0" tIns="0" rIns="0" bIns="0" rtlCol="0" anchor="t"/>
          <a:lstStyle/>
          <a:p>
            <a:pPr marL="285750" indent="-285750">
              <a:lnSpc>
                <a:spcPct val="150000"/>
              </a:lnSpc>
              <a:buFontTx/>
              <a:buChar char="-"/>
            </a:pPr>
            <a:r>
              <a:rPr lang="en-US">
                <a:solidFill>
                  <a:srgbClr val="464646"/>
                </a:solidFill>
                <a:latin typeface="Inter" pitchFamily="34" charset="0"/>
                <a:ea typeface="Inter" pitchFamily="34" charset="-122"/>
              </a:rPr>
              <a:t>Thiết lập tài khoản cho việc đăng nhập</a:t>
            </a:r>
          </a:p>
          <a:p>
            <a:pPr marL="285750" indent="-285750">
              <a:lnSpc>
                <a:spcPct val="150000"/>
              </a:lnSpc>
              <a:buFontTx/>
              <a:buChar char="-"/>
            </a:pPr>
            <a:r>
              <a:rPr lang="en-US">
                <a:solidFill>
                  <a:srgbClr val="464646"/>
                </a:solidFill>
                <a:latin typeface="Inter" pitchFamily="34" charset="0"/>
                <a:ea typeface="Inter" pitchFamily="34" charset="-122"/>
              </a:rPr>
              <a:t>Gom các input, gọi API yêu cầu tạo một tài khoản (/auth/register)</a:t>
            </a:r>
            <a:endParaRPr lang="en-US" dirty="0"/>
          </a:p>
        </p:txBody>
      </p:sp>
      <p:pic>
        <p:nvPicPr>
          <p:cNvPr id="5" name="Picture 4">
            <a:extLst>
              <a:ext uri="{FF2B5EF4-FFF2-40B4-BE49-F238E27FC236}">
                <a16:creationId xmlns:a16="http://schemas.microsoft.com/office/drawing/2014/main" id="{9DFAEF06-3E59-3737-317F-5684AC5BF5D8}"/>
              </a:ext>
            </a:extLst>
          </p:cNvPr>
          <p:cNvPicPr>
            <a:picLocks noChangeAspect="1"/>
          </p:cNvPicPr>
          <p:nvPr/>
        </p:nvPicPr>
        <p:blipFill>
          <a:blip r:embed="rId3"/>
          <a:stretch>
            <a:fillRect/>
          </a:stretch>
        </p:blipFill>
        <p:spPr>
          <a:xfrm>
            <a:off x="7428996" y="1666297"/>
            <a:ext cx="3866056" cy="4897005"/>
          </a:xfrm>
          <a:prstGeom prst="rect">
            <a:avLst/>
          </a:prstGeom>
        </p:spPr>
      </p:pic>
      <p:pic>
        <p:nvPicPr>
          <p:cNvPr id="8" name="Picture 7">
            <a:extLst>
              <a:ext uri="{FF2B5EF4-FFF2-40B4-BE49-F238E27FC236}">
                <a16:creationId xmlns:a16="http://schemas.microsoft.com/office/drawing/2014/main" id="{333A80F2-BB58-24EF-13C2-508528604ACA}"/>
              </a:ext>
            </a:extLst>
          </p:cNvPr>
          <p:cNvPicPr>
            <a:picLocks noChangeAspect="1"/>
          </p:cNvPicPr>
          <p:nvPr/>
        </p:nvPicPr>
        <p:blipFill>
          <a:blip r:embed="rId4"/>
          <a:stretch>
            <a:fillRect/>
          </a:stretch>
        </p:blipFill>
        <p:spPr>
          <a:xfrm>
            <a:off x="3698809" y="1439806"/>
            <a:ext cx="3387791" cy="5357117"/>
          </a:xfrm>
          <a:prstGeom prst="rect">
            <a:avLst/>
          </a:prstGeom>
        </p:spPr>
      </p:pic>
      <p:sp>
        <p:nvSpPr>
          <p:cNvPr id="18" name="Shape 4">
            <a:extLst>
              <a:ext uri="{FF2B5EF4-FFF2-40B4-BE49-F238E27FC236}">
                <a16:creationId xmlns:a16="http://schemas.microsoft.com/office/drawing/2014/main" id="{F8100693-9FFF-9599-28DB-27AE66289B32}"/>
              </a:ext>
            </a:extLst>
          </p:cNvPr>
          <p:cNvSpPr/>
          <p:nvPr/>
        </p:nvSpPr>
        <p:spPr>
          <a:xfrm>
            <a:off x="11842815" y="2809281"/>
            <a:ext cx="2447302" cy="2877583"/>
          </a:xfrm>
          <a:prstGeom prst="roundRect">
            <a:avLst>
              <a:gd name="adj" fmla="val 8521"/>
            </a:avLst>
          </a:prstGeom>
          <a:solidFill>
            <a:srgbClr val="F2EEEE"/>
          </a:solidFill>
          <a:ln/>
        </p:spPr>
        <p:txBody>
          <a:bodyPr/>
          <a:lstStyle/>
          <a:p>
            <a:endParaRPr lang="en-US"/>
          </a:p>
        </p:txBody>
      </p:sp>
      <p:sp>
        <p:nvSpPr>
          <p:cNvPr id="19" name="Text 5">
            <a:extLst>
              <a:ext uri="{FF2B5EF4-FFF2-40B4-BE49-F238E27FC236}">
                <a16:creationId xmlns:a16="http://schemas.microsoft.com/office/drawing/2014/main" id="{58DB520D-4582-DB94-AB32-B7CCF60D8296}"/>
              </a:ext>
            </a:extLst>
          </p:cNvPr>
          <p:cNvSpPr/>
          <p:nvPr/>
        </p:nvSpPr>
        <p:spPr>
          <a:xfrm>
            <a:off x="11991413" y="3095253"/>
            <a:ext cx="2150104"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rPr>
              <a:t>Đăng nhập</a:t>
            </a:r>
            <a:endParaRPr lang="en-US" sz="2400" b="1" dirty="0"/>
          </a:p>
        </p:txBody>
      </p:sp>
      <p:sp>
        <p:nvSpPr>
          <p:cNvPr id="20" name="Text 6">
            <a:extLst>
              <a:ext uri="{FF2B5EF4-FFF2-40B4-BE49-F238E27FC236}">
                <a16:creationId xmlns:a16="http://schemas.microsoft.com/office/drawing/2014/main" id="{69C05216-2120-7D8A-719F-3B86499ADCEB}"/>
              </a:ext>
            </a:extLst>
          </p:cNvPr>
          <p:cNvSpPr/>
          <p:nvPr/>
        </p:nvSpPr>
        <p:spPr>
          <a:xfrm>
            <a:off x="11991413" y="3667113"/>
            <a:ext cx="2150105" cy="1741960"/>
          </a:xfrm>
          <a:prstGeom prst="rect">
            <a:avLst/>
          </a:prstGeom>
          <a:noFill/>
          <a:ln/>
        </p:spPr>
        <p:txBody>
          <a:bodyPr wrap="square" lIns="0" tIns="0" rIns="0" bIns="0" rtlCol="0" anchor="t"/>
          <a:lstStyle/>
          <a:p>
            <a:pPr marL="285750" indent="-285750">
              <a:lnSpc>
                <a:spcPct val="150000"/>
              </a:lnSpc>
              <a:buFontTx/>
              <a:buChar char="-"/>
            </a:pPr>
            <a:r>
              <a:rPr lang="en-US">
                <a:solidFill>
                  <a:srgbClr val="464646"/>
                </a:solidFill>
                <a:latin typeface="Inter" pitchFamily="34" charset="0"/>
                <a:ea typeface="Inter" pitchFamily="34" charset="-122"/>
              </a:rPr>
              <a:t>Gọi API đăng nhập, lưu jwt token để gọi API vào localstoarge</a:t>
            </a:r>
          </a:p>
        </p:txBody>
      </p:sp>
      <p:pic>
        <p:nvPicPr>
          <p:cNvPr id="2" name="Picture 1">
            <a:extLst>
              <a:ext uri="{FF2B5EF4-FFF2-40B4-BE49-F238E27FC236}">
                <a16:creationId xmlns:a16="http://schemas.microsoft.com/office/drawing/2014/main" id="{43335507-000E-D831-BA06-C1E1ACCA98FC}"/>
              </a:ext>
            </a:extLst>
          </p:cNvPr>
          <p:cNvPicPr>
            <a:picLocks noChangeAspect="1"/>
          </p:cNvPicPr>
          <p:nvPr/>
        </p:nvPicPr>
        <p:blipFill>
          <a:blip r:embed="rId5"/>
          <a:stretch>
            <a:fillRect/>
          </a:stretch>
        </p:blipFill>
        <p:spPr>
          <a:xfrm>
            <a:off x="12812961" y="7617505"/>
            <a:ext cx="1817439" cy="703535"/>
          </a:xfrm>
          <a:prstGeom prst="rect">
            <a:avLst/>
          </a:prstGeom>
        </p:spPr>
      </p:pic>
    </p:spTree>
    <p:extLst>
      <p:ext uri="{BB962C8B-B14F-4D97-AF65-F5344CB8AC3E}">
        <p14:creationId xmlns:p14="http://schemas.microsoft.com/office/powerpoint/2010/main" val="2208759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41739-B1A1-B0D3-C801-B763C254BE5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0C841A4-2739-F98F-DD50-3842855CF942}"/>
              </a:ext>
            </a:extLst>
          </p:cNvPr>
          <p:cNvPicPr>
            <a:picLocks noChangeAspect="1"/>
          </p:cNvPicPr>
          <p:nvPr/>
        </p:nvPicPr>
        <p:blipFill>
          <a:blip r:embed="rId3"/>
          <a:stretch>
            <a:fillRect/>
          </a:stretch>
        </p:blipFill>
        <p:spPr>
          <a:xfrm>
            <a:off x="12812961" y="7617505"/>
            <a:ext cx="1817439" cy="703535"/>
          </a:xfrm>
          <a:prstGeom prst="rect">
            <a:avLst/>
          </a:prstGeom>
        </p:spPr>
      </p:pic>
      <p:sp>
        <p:nvSpPr>
          <p:cNvPr id="9" name="Text 0">
            <a:extLst>
              <a:ext uri="{FF2B5EF4-FFF2-40B4-BE49-F238E27FC236}">
                <a16:creationId xmlns:a16="http://schemas.microsoft.com/office/drawing/2014/main" id="{13A2DC15-C20C-C07B-F03B-B05F842F57EB}"/>
              </a:ext>
            </a:extLst>
          </p:cNvPr>
          <p:cNvSpPr/>
          <p:nvPr/>
        </p:nvSpPr>
        <p:spPr>
          <a:xfrm>
            <a:off x="416689" y="167056"/>
            <a:ext cx="13931055" cy="566976"/>
          </a:xfrm>
          <a:prstGeom prst="rect">
            <a:avLst/>
          </a:prstGeom>
          <a:noFill/>
          <a:ln/>
        </p:spPr>
        <p:txBody>
          <a:bodyPr wrap="none" lIns="0" tIns="0" rIns="0" bIns="0" rtlCol="0" anchor="t"/>
          <a:lstStyle/>
          <a:p>
            <a:pPr marL="0" indent="0" algn="ctr">
              <a:lnSpc>
                <a:spcPts val="4450"/>
              </a:lnSpc>
              <a:buNone/>
            </a:pPr>
            <a:r>
              <a:rPr lang="en-US" sz="3550">
                <a:solidFill>
                  <a:srgbClr val="030303"/>
                </a:solidFill>
                <a:latin typeface="Inter Semi Bold" pitchFamily="34" charset="0"/>
                <a:ea typeface="Inter Semi Bold" pitchFamily="34" charset="-122"/>
                <a:cs typeface="Inter Semi Bold" pitchFamily="34" charset="-120"/>
              </a:rPr>
              <a:t>4.3 Giao diện quản lý: công việc, thời gian, chi phí</a:t>
            </a:r>
            <a:endParaRPr lang="en-US" sz="3550" dirty="0"/>
          </a:p>
        </p:txBody>
      </p:sp>
      <p:sp>
        <p:nvSpPr>
          <p:cNvPr id="10" name="Shape 4">
            <a:extLst>
              <a:ext uri="{FF2B5EF4-FFF2-40B4-BE49-F238E27FC236}">
                <a16:creationId xmlns:a16="http://schemas.microsoft.com/office/drawing/2014/main" id="{0A850208-384E-28A8-637D-15672B5BD113}"/>
              </a:ext>
            </a:extLst>
          </p:cNvPr>
          <p:cNvSpPr/>
          <p:nvPr/>
        </p:nvSpPr>
        <p:spPr>
          <a:xfrm>
            <a:off x="3414964" y="1354539"/>
            <a:ext cx="7407364" cy="2395657"/>
          </a:xfrm>
          <a:prstGeom prst="roundRect">
            <a:avLst>
              <a:gd name="adj" fmla="val 8521"/>
            </a:avLst>
          </a:prstGeom>
          <a:solidFill>
            <a:srgbClr val="F2EEEE"/>
          </a:solidFill>
          <a:ln/>
        </p:spPr>
        <p:txBody>
          <a:bodyPr/>
          <a:lstStyle/>
          <a:p>
            <a:endParaRPr lang="en-US"/>
          </a:p>
        </p:txBody>
      </p:sp>
      <p:sp>
        <p:nvSpPr>
          <p:cNvPr id="12" name="Text 6">
            <a:extLst>
              <a:ext uri="{FF2B5EF4-FFF2-40B4-BE49-F238E27FC236}">
                <a16:creationId xmlns:a16="http://schemas.microsoft.com/office/drawing/2014/main" id="{1DB8BDD8-9418-9F6C-05CF-0CE18D905475}"/>
              </a:ext>
            </a:extLst>
          </p:cNvPr>
          <p:cNvSpPr/>
          <p:nvPr/>
        </p:nvSpPr>
        <p:spPr>
          <a:xfrm>
            <a:off x="3750497" y="1562486"/>
            <a:ext cx="6970020" cy="1856642"/>
          </a:xfrm>
          <a:prstGeom prst="rect">
            <a:avLst/>
          </a:prstGeom>
          <a:noFill/>
          <a:ln/>
        </p:spPr>
        <p:txBody>
          <a:bodyPr wrap="square" lIns="0" tIns="0" rIns="0" bIns="0" rtlCol="0" anchor="t"/>
          <a:lstStyle/>
          <a:p>
            <a:pPr marL="342900" indent="-342900">
              <a:lnSpc>
                <a:spcPct val="200000"/>
              </a:lnSpc>
              <a:buFont typeface="Arial" panose="020B0604020202020204" pitchFamily="34" charset="0"/>
              <a:buChar char="•"/>
            </a:pPr>
            <a:r>
              <a:rPr lang="vi-VN" sz="2000">
                <a:solidFill>
                  <a:srgbClr val="464646"/>
                </a:solidFill>
                <a:latin typeface="Inter" pitchFamily="34" charset="0"/>
                <a:ea typeface="Inter" pitchFamily="34" charset="-122"/>
                <a:cs typeface="Inter" pitchFamily="34" charset="-120"/>
              </a:rPr>
              <a:t>Tích hợp UI Components (Ant Design, Tailwind CSS).</a:t>
            </a:r>
          </a:p>
          <a:p>
            <a:pPr marL="342900" indent="-342900">
              <a:lnSpc>
                <a:spcPct val="200000"/>
              </a:lnSpc>
              <a:buFont typeface="Arial" panose="020B0604020202020204" pitchFamily="34" charset="0"/>
              <a:buChar char="•"/>
            </a:pPr>
            <a:r>
              <a:rPr lang="vi-VN" sz="2000">
                <a:solidFill>
                  <a:srgbClr val="464646"/>
                </a:solidFill>
                <a:latin typeface="Inter" pitchFamily="34" charset="0"/>
                <a:ea typeface="Inter" pitchFamily="34" charset="-122"/>
                <a:cs typeface="Inter" pitchFamily="34" charset="-120"/>
              </a:rPr>
              <a:t>Xử lý cấu trúc dữ liệu dạng cây (Tree Data).</a:t>
            </a:r>
          </a:p>
          <a:p>
            <a:pPr marL="342900" indent="-342900">
              <a:lnSpc>
                <a:spcPct val="200000"/>
              </a:lnSpc>
              <a:buFont typeface="Arial" panose="020B0604020202020204" pitchFamily="34" charset="0"/>
              <a:buChar char="•"/>
            </a:pPr>
            <a:r>
              <a:rPr lang="vi-VN" sz="2000">
                <a:solidFill>
                  <a:srgbClr val="464646"/>
                </a:solidFill>
                <a:latin typeface="Inter" pitchFamily="34" charset="0"/>
                <a:ea typeface="Inter" pitchFamily="34" charset="-122"/>
                <a:cs typeface="Inter" pitchFamily="34" charset="-120"/>
              </a:rPr>
              <a:t>Render giao diện động theo Role (Quyền hạn).</a:t>
            </a:r>
          </a:p>
        </p:txBody>
      </p:sp>
      <p:sp>
        <p:nvSpPr>
          <p:cNvPr id="15" name="Shape 4">
            <a:extLst>
              <a:ext uri="{FF2B5EF4-FFF2-40B4-BE49-F238E27FC236}">
                <a16:creationId xmlns:a16="http://schemas.microsoft.com/office/drawing/2014/main" id="{967AF9F8-56F9-4F5D-A444-868974D4926C}"/>
              </a:ext>
            </a:extLst>
          </p:cNvPr>
          <p:cNvSpPr/>
          <p:nvPr/>
        </p:nvSpPr>
        <p:spPr>
          <a:xfrm>
            <a:off x="648182" y="4479405"/>
            <a:ext cx="13553955" cy="3183036"/>
          </a:xfrm>
          <a:prstGeom prst="roundRect">
            <a:avLst>
              <a:gd name="adj" fmla="val 8521"/>
            </a:avLst>
          </a:prstGeom>
          <a:solidFill>
            <a:srgbClr val="F2EEEE"/>
          </a:solidFill>
          <a:ln/>
        </p:spPr>
        <p:txBody>
          <a:bodyPr/>
          <a:lstStyle/>
          <a:p>
            <a:endParaRPr lang="en-US"/>
          </a:p>
        </p:txBody>
      </p:sp>
      <p:sp>
        <p:nvSpPr>
          <p:cNvPr id="16" name="Text 5">
            <a:extLst>
              <a:ext uri="{FF2B5EF4-FFF2-40B4-BE49-F238E27FC236}">
                <a16:creationId xmlns:a16="http://schemas.microsoft.com/office/drawing/2014/main" id="{FE21BF93-BF5B-39C7-3CD0-E73A6A994F93}"/>
              </a:ext>
            </a:extLst>
          </p:cNvPr>
          <p:cNvSpPr/>
          <p:nvPr/>
        </p:nvSpPr>
        <p:spPr>
          <a:xfrm>
            <a:off x="5434593" y="4919597"/>
            <a:ext cx="2835235"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cs typeface="Inter Semi Bold" pitchFamily="34" charset="-120"/>
              </a:rPr>
              <a:t>Triển khai</a:t>
            </a:r>
            <a:endParaRPr lang="en-US" sz="2400" b="1" dirty="0"/>
          </a:p>
        </p:txBody>
      </p:sp>
      <p:sp>
        <p:nvSpPr>
          <p:cNvPr id="17" name="Text 6">
            <a:extLst>
              <a:ext uri="{FF2B5EF4-FFF2-40B4-BE49-F238E27FC236}">
                <a16:creationId xmlns:a16="http://schemas.microsoft.com/office/drawing/2014/main" id="{B57F0087-68EE-D33A-98FD-EB9632B3FF53}"/>
              </a:ext>
            </a:extLst>
          </p:cNvPr>
          <p:cNvSpPr/>
          <p:nvPr/>
        </p:nvSpPr>
        <p:spPr>
          <a:xfrm>
            <a:off x="958639" y="5474545"/>
            <a:ext cx="13104602" cy="1682286"/>
          </a:xfrm>
          <a:prstGeom prst="rect">
            <a:avLst/>
          </a:prstGeom>
          <a:noFill/>
          <a:ln/>
        </p:spPr>
        <p:txBody>
          <a:bodyPr wrap="square" lIns="0" tIns="0" rIns="0" bIns="0" rtlCol="0" anchor="t"/>
          <a:lstStyle/>
          <a:p>
            <a:pPr marL="285750" indent="-285750">
              <a:lnSpc>
                <a:spcPct val="150000"/>
              </a:lnSpc>
              <a:buFontTx/>
              <a:buChar char="-"/>
            </a:pPr>
            <a:r>
              <a:rPr lang="vi-VN">
                <a:solidFill>
                  <a:srgbClr val="464646"/>
                </a:solidFill>
                <a:latin typeface="Inter" pitchFamily="34" charset="0"/>
                <a:ea typeface="Inter" pitchFamily="34" charset="-122"/>
                <a:cs typeface="Inter" pitchFamily="34" charset="-120"/>
              </a:rPr>
              <a:t>Dữ liệu Backend trả về là dạng mảng phẳng (flat array),</a:t>
            </a:r>
            <a:r>
              <a:rPr lang="en-US">
                <a:solidFill>
                  <a:srgbClr val="464646"/>
                </a:solidFill>
                <a:latin typeface="Inter" pitchFamily="34" charset="0"/>
                <a:ea typeface="Inter" pitchFamily="34" charset="-122"/>
                <a:cs typeface="Inter" pitchFamily="34" charset="-120"/>
              </a:rPr>
              <a:t> cần</a:t>
            </a:r>
            <a:r>
              <a:rPr lang="vi-VN">
                <a:solidFill>
                  <a:srgbClr val="464646"/>
                </a:solidFill>
                <a:latin typeface="Inter" pitchFamily="34" charset="0"/>
                <a:ea typeface="Inter" pitchFamily="34" charset="-122"/>
                <a:cs typeface="Inter" pitchFamily="34" charset="-120"/>
              </a:rPr>
              <a:t> map dữ liệu thành cấu trúc Cây (Cha - Con) cho bảng</a:t>
            </a:r>
            <a:r>
              <a:rPr lang="en-US">
                <a:solidFill>
                  <a:srgbClr val="464646"/>
                </a:solidFill>
                <a:latin typeface="Inter" pitchFamily="34" charset="0"/>
                <a:ea typeface="Inter" pitchFamily="34" charset="-122"/>
                <a:cs typeface="Inter" pitchFamily="34" charset="-120"/>
              </a:rPr>
              <a:t> quản lý công việc -</a:t>
            </a:r>
            <a:r>
              <a:rPr lang="vi-VN">
                <a:solidFill>
                  <a:srgbClr val="464646"/>
                </a:solidFill>
                <a:latin typeface="Inter" pitchFamily="34" charset="0"/>
                <a:ea typeface="Inter" pitchFamily="34" charset="-122"/>
                <a:cs typeface="Inter" pitchFamily="34" charset="-120"/>
              </a:rPr>
              <a:t> WBS. </a:t>
            </a:r>
            <a:endParaRPr lang="en-US">
              <a:solidFill>
                <a:srgbClr val="464646"/>
              </a:solidFill>
              <a:latin typeface="Inter" pitchFamily="34" charset="0"/>
              <a:ea typeface="Inter" pitchFamily="34" charset="-122"/>
              <a:cs typeface="Inter" pitchFamily="34" charset="-120"/>
            </a:endParaRPr>
          </a:p>
          <a:p>
            <a:pPr marL="285750" indent="-285750">
              <a:lnSpc>
                <a:spcPct val="150000"/>
              </a:lnSpc>
              <a:buFontTx/>
              <a:buChar char="-"/>
            </a:pPr>
            <a:r>
              <a:rPr lang="en-US">
                <a:solidFill>
                  <a:srgbClr val="464646"/>
                </a:solidFill>
                <a:latin typeface="Inter" pitchFamily="34" charset="0"/>
                <a:ea typeface="Inter" pitchFamily="34" charset="-122"/>
                <a:cs typeface="Inter" pitchFamily="34" charset="-120"/>
              </a:rPr>
              <a:t>G</a:t>
            </a:r>
            <a:r>
              <a:rPr lang="vi-VN">
                <a:solidFill>
                  <a:srgbClr val="464646"/>
                </a:solidFill>
                <a:latin typeface="Inter" pitchFamily="34" charset="0"/>
                <a:ea typeface="Inter" pitchFamily="34" charset="-122"/>
                <a:cs typeface="Inter" pitchFamily="34" charset="-120"/>
              </a:rPr>
              <a:t>iao diện được render động (Dynamic Rendering) theo Quyền: Nếu biến Role trong Context là Member, hệ thống tự động ẩn </a:t>
            </a:r>
            <a:r>
              <a:rPr lang="en-US">
                <a:solidFill>
                  <a:srgbClr val="464646"/>
                </a:solidFill>
                <a:latin typeface="Inter" pitchFamily="34" charset="0"/>
                <a:ea typeface="Inter" pitchFamily="34" charset="-122"/>
                <a:cs typeface="Inter" pitchFamily="34" charset="-120"/>
              </a:rPr>
              <a:t>hoặc khóa </a:t>
            </a:r>
            <a:r>
              <a:rPr lang="vi-VN">
                <a:solidFill>
                  <a:srgbClr val="464646"/>
                </a:solidFill>
                <a:latin typeface="Inter" pitchFamily="34" charset="0"/>
                <a:ea typeface="Inter" pitchFamily="34" charset="-122"/>
                <a:cs typeface="Inter" pitchFamily="34" charset="-120"/>
              </a:rPr>
              <a:t>đi toàn bộ các nút Thêm/Sửa/Xóa, khóa các form nhập liệu, đảm bảo tính vẹn toàn dữ liệu.</a:t>
            </a:r>
            <a:endParaRPr lang="en-US" dirty="0"/>
          </a:p>
        </p:txBody>
      </p:sp>
    </p:spTree>
    <p:extLst>
      <p:ext uri="{BB962C8B-B14F-4D97-AF65-F5344CB8AC3E}">
        <p14:creationId xmlns:p14="http://schemas.microsoft.com/office/powerpoint/2010/main" val="1152822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9D646-FBA3-F1B5-53E4-7D7D54DA046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14EF946-010D-F541-3799-D5F4FA003959}"/>
              </a:ext>
            </a:extLst>
          </p:cNvPr>
          <p:cNvPicPr>
            <a:picLocks noChangeAspect="1"/>
          </p:cNvPicPr>
          <p:nvPr/>
        </p:nvPicPr>
        <p:blipFill>
          <a:blip r:embed="rId3"/>
          <a:stretch>
            <a:fillRect/>
          </a:stretch>
        </p:blipFill>
        <p:spPr>
          <a:xfrm>
            <a:off x="12812961" y="7617505"/>
            <a:ext cx="1817439" cy="703535"/>
          </a:xfrm>
          <a:prstGeom prst="rect">
            <a:avLst/>
          </a:prstGeom>
        </p:spPr>
      </p:pic>
      <p:sp>
        <p:nvSpPr>
          <p:cNvPr id="9" name="Text 0">
            <a:extLst>
              <a:ext uri="{FF2B5EF4-FFF2-40B4-BE49-F238E27FC236}">
                <a16:creationId xmlns:a16="http://schemas.microsoft.com/office/drawing/2014/main" id="{AA29CF47-EAB3-7DD0-7392-913A193F5D20}"/>
              </a:ext>
            </a:extLst>
          </p:cNvPr>
          <p:cNvSpPr/>
          <p:nvPr/>
        </p:nvSpPr>
        <p:spPr>
          <a:xfrm>
            <a:off x="416689" y="167056"/>
            <a:ext cx="13931055" cy="566976"/>
          </a:xfrm>
          <a:prstGeom prst="rect">
            <a:avLst/>
          </a:prstGeom>
          <a:noFill/>
          <a:ln/>
        </p:spPr>
        <p:txBody>
          <a:bodyPr wrap="none" lIns="0" tIns="0" rIns="0" bIns="0" rtlCol="0" anchor="t"/>
          <a:lstStyle/>
          <a:p>
            <a:pPr marL="0" indent="0" algn="ctr">
              <a:lnSpc>
                <a:spcPts val="4450"/>
              </a:lnSpc>
              <a:buNone/>
            </a:pPr>
            <a:r>
              <a:rPr lang="en-US" sz="3550">
                <a:solidFill>
                  <a:srgbClr val="030303"/>
                </a:solidFill>
                <a:latin typeface="Inter Semi Bold" pitchFamily="34" charset="0"/>
                <a:ea typeface="Inter Semi Bold" pitchFamily="34" charset="-122"/>
                <a:cs typeface="Inter Semi Bold" pitchFamily="34" charset="-120"/>
              </a:rPr>
              <a:t>4.4 Trực quan hóa Dữ liệu (Kanban &amp; Gantt Chart)</a:t>
            </a:r>
            <a:endParaRPr lang="en-US" sz="3550" dirty="0"/>
          </a:p>
        </p:txBody>
      </p:sp>
      <p:sp>
        <p:nvSpPr>
          <p:cNvPr id="10" name="Shape 4">
            <a:extLst>
              <a:ext uri="{FF2B5EF4-FFF2-40B4-BE49-F238E27FC236}">
                <a16:creationId xmlns:a16="http://schemas.microsoft.com/office/drawing/2014/main" id="{8B4E1096-3544-7DD5-EB80-547B278E5420}"/>
              </a:ext>
            </a:extLst>
          </p:cNvPr>
          <p:cNvSpPr/>
          <p:nvPr/>
        </p:nvSpPr>
        <p:spPr>
          <a:xfrm>
            <a:off x="3414964" y="1354539"/>
            <a:ext cx="7407364" cy="2395657"/>
          </a:xfrm>
          <a:prstGeom prst="roundRect">
            <a:avLst>
              <a:gd name="adj" fmla="val 8521"/>
            </a:avLst>
          </a:prstGeom>
          <a:solidFill>
            <a:srgbClr val="F2EEEE"/>
          </a:solidFill>
          <a:ln/>
        </p:spPr>
        <p:txBody>
          <a:bodyPr/>
          <a:lstStyle/>
          <a:p>
            <a:endParaRPr lang="en-US"/>
          </a:p>
        </p:txBody>
      </p:sp>
      <p:sp>
        <p:nvSpPr>
          <p:cNvPr id="12" name="Text 6">
            <a:extLst>
              <a:ext uri="{FF2B5EF4-FFF2-40B4-BE49-F238E27FC236}">
                <a16:creationId xmlns:a16="http://schemas.microsoft.com/office/drawing/2014/main" id="{D62C504B-D92A-5CF9-7BB4-8D0DAC96E99B}"/>
              </a:ext>
            </a:extLst>
          </p:cNvPr>
          <p:cNvSpPr/>
          <p:nvPr/>
        </p:nvSpPr>
        <p:spPr>
          <a:xfrm>
            <a:off x="3750497" y="1562486"/>
            <a:ext cx="6970020" cy="1856642"/>
          </a:xfrm>
          <a:prstGeom prst="rect">
            <a:avLst/>
          </a:prstGeom>
          <a:noFill/>
          <a:ln/>
        </p:spPr>
        <p:txBody>
          <a:bodyPr wrap="square" lIns="0" tIns="0" rIns="0" bIns="0" rtlCol="0" anchor="t"/>
          <a:lstStyle/>
          <a:p>
            <a:pPr marL="342900" indent="-342900">
              <a:lnSpc>
                <a:spcPct val="200000"/>
              </a:lnSpc>
              <a:buFont typeface="Arial" panose="020B0604020202020204" pitchFamily="34" charset="0"/>
              <a:buChar char="•"/>
            </a:pPr>
            <a:r>
              <a:rPr lang="vi-VN" sz="2000">
                <a:solidFill>
                  <a:srgbClr val="464646"/>
                </a:solidFill>
                <a:latin typeface="Inter" pitchFamily="34" charset="0"/>
                <a:ea typeface="Inter" pitchFamily="34" charset="-122"/>
                <a:cs typeface="Inter" pitchFamily="34" charset="-120"/>
              </a:rPr>
              <a:t>Tích hợp và tùy biến thư viện mở rộng.</a:t>
            </a:r>
          </a:p>
          <a:p>
            <a:pPr marL="342900" indent="-342900">
              <a:lnSpc>
                <a:spcPct val="200000"/>
              </a:lnSpc>
              <a:buFont typeface="Arial" panose="020B0604020202020204" pitchFamily="34" charset="0"/>
              <a:buChar char="•"/>
            </a:pPr>
            <a:r>
              <a:rPr lang="vi-VN" sz="2000">
                <a:solidFill>
                  <a:srgbClr val="464646"/>
                </a:solidFill>
                <a:latin typeface="Inter" pitchFamily="34" charset="0"/>
                <a:ea typeface="Inter" pitchFamily="34" charset="-122"/>
                <a:cs typeface="Inter" pitchFamily="34" charset="-120"/>
              </a:rPr>
              <a:t>Đồng bộ trạng thái thời gian thực (Real-time mapping).</a:t>
            </a:r>
          </a:p>
          <a:p>
            <a:pPr marL="342900" indent="-342900">
              <a:lnSpc>
                <a:spcPct val="200000"/>
              </a:lnSpc>
              <a:buFont typeface="Arial" panose="020B0604020202020204" pitchFamily="34" charset="0"/>
              <a:buChar char="•"/>
            </a:pPr>
            <a:r>
              <a:rPr lang="vi-VN" sz="2000">
                <a:solidFill>
                  <a:srgbClr val="464646"/>
                </a:solidFill>
                <a:latin typeface="Inter" pitchFamily="34" charset="0"/>
                <a:ea typeface="Inter" pitchFamily="34" charset="-122"/>
                <a:cs typeface="Inter" pitchFamily="34" charset="-120"/>
              </a:rPr>
              <a:t>Tối ưu hóa UI/UX cho màn hình phức tạp.</a:t>
            </a:r>
          </a:p>
        </p:txBody>
      </p:sp>
      <p:sp>
        <p:nvSpPr>
          <p:cNvPr id="15" name="Shape 4">
            <a:extLst>
              <a:ext uri="{FF2B5EF4-FFF2-40B4-BE49-F238E27FC236}">
                <a16:creationId xmlns:a16="http://schemas.microsoft.com/office/drawing/2014/main" id="{9A8E801F-DF37-D8D2-A88A-179501B866D6}"/>
              </a:ext>
            </a:extLst>
          </p:cNvPr>
          <p:cNvSpPr/>
          <p:nvPr/>
        </p:nvSpPr>
        <p:spPr>
          <a:xfrm>
            <a:off x="648182" y="4479405"/>
            <a:ext cx="13553955" cy="3183036"/>
          </a:xfrm>
          <a:prstGeom prst="roundRect">
            <a:avLst>
              <a:gd name="adj" fmla="val 8521"/>
            </a:avLst>
          </a:prstGeom>
          <a:solidFill>
            <a:srgbClr val="F2EEEE"/>
          </a:solidFill>
          <a:ln/>
        </p:spPr>
        <p:txBody>
          <a:bodyPr/>
          <a:lstStyle/>
          <a:p>
            <a:endParaRPr lang="en-US"/>
          </a:p>
        </p:txBody>
      </p:sp>
      <p:sp>
        <p:nvSpPr>
          <p:cNvPr id="16" name="Text 5">
            <a:extLst>
              <a:ext uri="{FF2B5EF4-FFF2-40B4-BE49-F238E27FC236}">
                <a16:creationId xmlns:a16="http://schemas.microsoft.com/office/drawing/2014/main" id="{EC1D6AEF-714F-0648-49DE-7A96CE3EC143}"/>
              </a:ext>
            </a:extLst>
          </p:cNvPr>
          <p:cNvSpPr/>
          <p:nvPr/>
        </p:nvSpPr>
        <p:spPr>
          <a:xfrm>
            <a:off x="5434593" y="4919597"/>
            <a:ext cx="2835235" cy="354330"/>
          </a:xfrm>
          <a:prstGeom prst="rect">
            <a:avLst/>
          </a:prstGeom>
          <a:noFill/>
          <a:ln/>
        </p:spPr>
        <p:txBody>
          <a:bodyPr wrap="none" lIns="0" tIns="0" rIns="0" bIns="0" rtlCol="0" anchor="t"/>
          <a:lstStyle/>
          <a:p>
            <a:pPr marL="0" indent="0" algn="ctr">
              <a:lnSpc>
                <a:spcPts val="2750"/>
              </a:lnSpc>
              <a:buNone/>
            </a:pPr>
            <a:r>
              <a:rPr lang="en-US" sz="2400" b="1">
                <a:solidFill>
                  <a:srgbClr val="464646"/>
                </a:solidFill>
                <a:latin typeface="Inter Semi Bold" pitchFamily="34" charset="0"/>
                <a:ea typeface="Inter Semi Bold" pitchFamily="34" charset="-122"/>
                <a:cs typeface="Inter Semi Bold" pitchFamily="34" charset="-120"/>
              </a:rPr>
              <a:t>Triển khai</a:t>
            </a:r>
            <a:endParaRPr lang="en-US" sz="2400" b="1" dirty="0"/>
          </a:p>
        </p:txBody>
      </p:sp>
      <p:sp>
        <p:nvSpPr>
          <p:cNvPr id="17" name="Text 6">
            <a:extLst>
              <a:ext uri="{FF2B5EF4-FFF2-40B4-BE49-F238E27FC236}">
                <a16:creationId xmlns:a16="http://schemas.microsoft.com/office/drawing/2014/main" id="{97ADFC4E-7C6D-7472-B6B8-B522A94D4A63}"/>
              </a:ext>
            </a:extLst>
          </p:cNvPr>
          <p:cNvSpPr/>
          <p:nvPr/>
        </p:nvSpPr>
        <p:spPr>
          <a:xfrm>
            <a:off x="958639" y="5474545"/>
            <a:ext cx="13104602" cy="1682286"/>
          </a:xfrm>
          <a:prstGeom prst="rect">
            <a:avLst/>
          </a:prstGeom>
          <a:noFill/>
          <a:ln/>
        </p:spPr>
        <p:txBody>
          <a:bodyPr wrap="square" lIns="0" tIns="0" rIns="0" bIns="0" rtlCol="0" anchor="t"/>
          <a:lstStyle/>
          <a:p>
            <a:pPr marL="285750" indent="-285750">
              <a:lnSpc>
                <a:spcPct val="150000"/>
              </a:lnSpc>
              <a:buFontTx/>
              <a:buChar char="-"/>
            </a:pPr>
            <a:r>
              <a:rPr lang="en-US">
                <a:solidFill>
                  <a:srgbClr val="464646"/>
                </a:solidFill>
                <a:latin typeface="Inter" pitchFamily="34" charset="0"/>
                <a:ea typeface="Inter" pitchFamily="34" charset="-122"/>
                <a:cs typeface="Inter" pitchFamily="34" charset="-120"/>
              </a:rPr>
              <a:t>T</a:t>
            </a:r>
            <a:r>
              <a:rPr lang="vi-VN">
                <a:solidFill>
                  <a:srgbClr val="464646"/>
                </a:solidFill>
                <a:latin typeface="Inter" pitchFamily="34" charset="0"/>
                <a:ea typeface="Inter" pitchFamily="34" charset="-122"/>
                <a:cs typeface="Inter" pitchFamily="34" charset="-120"/>
              </a:rPr>
              <a:t>ích hợp các thư viện </a:t>
            </a:r>
            <a:r>
              <a:rPr lang="en-US">
                <a:solidFill>
                  <a:srgbClr val="464646"/>
                </a:solidFill>
                <a:latin typeface="Inter" pitchFamily="34" charset="0"/>
                <a:ea typeface="Inter" pitchFamily="34" charset="-122"/>
                <a:cs typeface="Inter" pitchFamily="34" charset="-120"/>
              </a:rPr>
              <a:t>cho </a:t>
            </a:r>
            <a:r>
              <a:rPr lang="vi-VN">
                <a:solidFill>
                  <a:srgbClr val="464646"/>
                </a:solidFill>
                <a:latin typeface="Inter" pitchFamily="34" charset="0"/>
                <a:ea typeface="Inter" pitchFamily="34" charset="-122"/>
                <a:cs typeface="Inter" pitchFamily="34" charset="-120"/>
              </a:rPr>
              <a:t>Gantt/Kanban. </a:t>
            </a:r>
            <a:r>
              <a:rPr lang="en-US">
                <a:solidFill>
                  <a:srgbClr val="464646"/>
                </a:solidFill>
                <a:latin typeface="Inter" pitchFamily="34" charset="0"/>
                <a:ea typeface="Inter" pitchFamily="34" charset="-122"/>
                <a:cs typeface="Inter" pitchFamily="34" charset="-120"/>
              </a:rPr>
              <a:t>Tuy nhiên </a:t>
            </a:r>
            <a:r>
              <a:rPr lang="vi-VN">
                <a:solidFill>
                  <a:srgbClr val="464646"/>
                </a:solidFill>
                <a:latin typeface="Inter" pitchFamily="34" charset="0"/>
                <a:ea typeface="Inter" pitchFamily="34" charset="-122"/>
                <a:cs typeface="Inter" pitchFamily="34" charset="-120"/>
              </a:rPr>
              <a:t>dữ liệu API</a:t>
            </a:r>
            <a:r>
              <a:rPr lang="en-US">
                <a:solidFill>
                  <a:srgbClr val="464646"/>
                </a:solidFill>
                <a:latin typeface="Inter" pitchFamily="34" charset="0"/>
                <a:ea typeface="Inter" pitchFamily="34" charset="-122"/>
                <a:cs typeface="Inter" pitchFamily="34" charset="-120"/>
              </a:rPr>
              <a:t> response</a:t>
            </a:r>
            <a:r>
              <a:rPr lang="vi-VN">
                <a:solidFill>
                  <a:srgbClr val="464646"/>
                </a:solidFill>
                <a:latin typeface="Inter" pitchFamily="34" charset="0"/>
                <a:ea typeface="Inter" pitchFamily="34" charset="-122"/>
                <a:cs typeface="Inter" pitchFamily="34" charset="-120"/>
              </a:rPr>
              <a:t> phải được format lại hoàn toàn cho khớp với chuẩn của thư viện biểu đồ. </a:t>
            </a:r>
          </a:p>
          <a:p>
            <a:pPr marL="285750" indent="-285750">
              <a:lnSpc>
                <a:spcPct val="150000"/>
              </a:lnSpc>
              <a:buFontTx/>
              <a:buChar char="-"/>
            </a:pPr>
            <a:r>
              <a:rPr lang="en-US">
                <a:solidFill>
                  <a:srgbClr val="464646"/>
                </a:solidFill>
                <a:latin typeface="Inter" pitchFamily="34" charset="0"/>
                <a:ea typeface="Inter" pitchFamily="34" charset="-122"/>
                <a:cs typeface="Inter" pitchFamily="34" charset="-120"/>
              </a:rPr>
              <a:t>B</a:t>
            </a:r>
            <a:r>
              <a:rPr lang="vi-VN">
                <a:solidFill>
                  <a:srgbClr val="464646"/>
                </a:solidFill>
                <a:latin typeface="Inter" pitchFamily="34" charset="0"/>
                <a:ea typeface="Inter" pitchFamily="34" charset="-122"/>
                <a:cs typeface="Inter" pitchFamily="34" charset="-120"/>
              </a:rPr>
              <a:t>ảng Gantt</a:t>
            </a:r>
            <a:r>
              <a:rPr lang="en-US">
                <a:solidFill>
                  <a:srgbClr val="464646"/>
                </a:solidFill>
                <a:latin typeface="Inter" pitchFamily="34" charset="0"/>
                <a:ea typeface="Inter" pitchFamily="34" charset="-122"/>
                <a:cs typeface="Inter" pitchFamily="34" charset="-120"/>
              </a:rPr>
              <a:t> hỗ trợ </a:t>
            </a:r>
            <a:r>
              <a:rPr lang="vi-VN">
                <a:solidFill>
                  <a:srgbClr val="464646"/>
                </a:solidFill>
                <a:latin typeface="Inter" pitchFamily="34" charset="0"/>
                <a:ea typeface="Inter" pitchFamily="34" charset="-122"/>
                <a:cs typeface="Inter" pitchFamily="34" charset="-120"/>
              </a:rPr>
              <a:t>thanh cuộn Scrollbar, giúp người dùng dễ dàng</a:t>
            </a:r>
            <a:r>
              <a:rPr lang="en-US">
                <a:solidFill>
                  <a:srgbClr val="464646"/>
                </a:solidFill>
                <a:latin typeface="Inter" pitchFamily="34" charset="0"/>
                <a:ea typeface="Inter" pitchFamily="34" charset="-122"/>
                <a:cs typeface="Inter" pitchFamily="34" charset="-120"/>
              </a:rPr>
              <a:t>, tang trải nghiệm khi</a:t>
            </a:r>
            <a:r>
              <a:rPr lang="vi-VN">
                <a:solidFill>
                  <a:srgbClr val="464646"/>
                </a:solidFill>
                <a:latin typeface="Inter" pitchFamily="34" charset="0"/>
                <a:ea typeface="Inter" pitchFamily="34" charset="-122"/>
                <a:cs typeface="Inter" pitchFamily="34" charset="-120"/>
              </a:rPr>
              <a:t> lướt xem tiến độ</a:t>
            </a:r>
            <a:r>
              <a:rPr lang="en-US">
                <a:solidFill>
                  <a:srgbClr val="464646"/>
                </a:solidFill>
                <a:latin typeface="Inter" pitchFamily="34" charset="0"/>
                <a:ea typeface="Inter" pitchFamily="34" charset="-122"/>
                <a:cs typeface="Inter" pitchFamily="34" charset="-120"/>
              </a:rPr>
              <a:t> dự án.</a:t>
            </a:r>
            <a:endParaRPr lang="vi-VN">
              <a:solidFill>
                <a:srgbClr val="464646"/>
              </a:solidFill>
              <a:latin typeface="Inter" pitchFamily="34" charset="0"/>
              <a:ea typeface="Inter" pitchFamily="34" charset="-122"/>
              <a:cs typeface="Inter" pitchFamily="34" charset="-120"/>
            </a:endParaRPr>
          </a:p>
          <a:p>
            <a:pPr marL="285750" indent="-285750">
              <a:lnSpc>
                <a:spcPct val="150000"/>
              </a:lnSpc>
              <a:buFontTx/>
              <a:buChar char="-"/>
            </a:pPr>
            <a:r>
              <a:rPr lang="en-US">
                <a:solidFill>
                  <a:srgbClr val="464646"/>
                </a:solidFill>
                <a:latin typeface="Inter" pitchFamily="34" charset="0"/>
                <a:ea typeface="Inter" pitchFamily="34" charset="-122"/>
                <a:cs typeface="Inter" pitchFamily="34" charset="-120"/>
              </a:rPr>
              <a:t>Bảng</a:t>
            </a:r>
            <a:r>
              <a:rPr lang="vi-VN">
                <a:solidFill>
                  <a:srgbClr val="464646"/>
                </a:solidFill>
                <a:latin typeface="Inter" pitchFamily="34" charset="0"/>
                <a:ea typeface="Inter" pitchFamily="34" charset="-122"/>
                <a:cs typeface="Inter" pitchFamily="34" charset="-120"/>
              </a:rPr>
              <a:t> Kanban, thiết lập logic check ID: Chỉ người có Owner ID trùng với ID người đang đăng nhập mới được phép </a:t>
            </a:r>
            <a:r>
              <a:rPr lang="en-US">
                <a:solidFill>
                  <a:srgbClr val="464646"/>
                </a:solidFill>
                <a:latin typeface="Inter" pitchFamily="34" charset="0"/>
                <a:ea typeface="Inter" pitchFamily="34" charset="-122"/>
                <a:cs typeface="Inter" pitchFamily="34" charset="-120"/>
              </a:rPr>
              <a:t>cập nhật trạng thái công việc.</a:t>
            </a:r>
            <a:endParaRPr lang="vi-VN">
              <a:solidFill>
                <a:srgbClr val="464646"/>
              </a:solidFill>
              <a:latin typeface="Inter" pitchFamily="34" charset="0"/>
              <a:ea typeface="Inter" pitchFamily="34" charset="-122"/>
              <a:cs typeface="Inter" pitchFamily="34" charset="-120"/>
            </a:endParaRPr>
          </a:p>
        </p:txBody>
      </p:sp>
    </p:spTree>
    <p:extLst>
      <p:ext uri="{BB962C8B-B14F-4D97-AF65-F5344CB8AC3E}">
        <p14:creationId xmlns:p14="http://schemas.microsoft.com/office/powerpoint/2010/main" val="1391231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1319513" y="3547824"/>
            <a:ext cx="12037671" cy="1133951"/>
          </a:xfrm>
          <a:prstGeom prst="rect">
            <a:avLst/>
          </a:prstGeom>
          <a:noFill/>
          <a:ln/>
        </p:spPr>
        <p:txBody>
          <a:bodyPr wrap="square" lIns="0" tIns="0" rIns="0" bIns="0" rtlCol="0" anchor="t"/>
          <a:lstStyle/>
          <a:p>
            <a:pPr marL="0" indent="0" algn="ctr">
              <a:lnSpc>
                <a:spcPts val="4450"/>
              </a:lnSpc>
              <a:buNone/>
            </a:pPr>
            <a:r>
              <a:rPr lang="en-US" sz="3550">
                <a:solidFill>
                  <a:srgbClr val="030303"/>
                </a:solidFill>
                <a:latin typeface="Inter Semi Bold" pitchFamily="34" charset="0"/>
                <a:ea typeface="Inter Semi Bold" pitchFamily="34" charset="-122"/>
                <a:cs typeface="Inter Semi Bold" pitchFamily="34" charset="-120"/>
              </a:rPr>
              <a:t>Cảm ơn Thầy và các bạn đã chú ý lắng nghe bài thuyết trình!</a:t>
            </a:r>
            <a:endParaRPr lang="en-US" sz="3550" dirty="0"/>
          </a:p>
        </p:txBody>
      </p:sp>
      <p:pic>
        <p:nvPicPr>
          <p:cNvPr id="2050" name="Picture 2">
            <a:extLst>
              <a:ext uri="{FF2B5EF4-FFF2-40B4-BE49-F238E27FC236}">
                <a16:creationId xmlns:a16="http://schemas.microsoft.com/office/drawing/2014/main" id="{8750919D-A0FF-9A0A-3CD6-31D786AD5D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9977" y="4949743"/>
            <a:ext cx="2724271" cy="27242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949220C3-7823-C0E0-6115-635D0B3BE35F}"/>
              </a:ext>
            </a:extLst>
          </p:cNvPr>
          <p:cNvPicPr>
            <a:picLocks noChangeAspect="1"/>
          </p:cNvPicPr>
          <p:nvPr/>
        </p:nvPicPr>
        <p:blipFill>
          <a:blip r:embed="rId4"/>
          <a:stretch>
            <a:fillRect/>
          </a:stretch>
        </p:blipFill>
        <p:spPr>
          <a:xfrm>
            <a:off x="12812961" y="7617505"/>
            <a:ext cx="1817439" cy="7035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1189</Words>
  <Application>Microsoft Office PowerPoint</Application>
  <PresentationFormat>Custom</PresentationFormat>
  <Paragraphs>128</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Arimo Semi Bold</vt:lpstr>
      <vt:lpstr>Inter Semi Bold</vt:lpstr>
      <vt:lpstr>Wingdings</vt:lpstr>
      <vt:lpstr>Arimo Medium</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Tuấn Anh</cp:lastModifiedBy>
  <cp:revision>6</cp:revision>
  <dcterms:created xsi:type="dcterms:W3CDTF">2026-04-22T13:32:36Z</dcterms:created>
  <dcterms:modified xsi:type="dcterms:W3CDTF">2026-04-23T02:00:05Z</dcterms:modified>
</cp:coreProperties>
</file>